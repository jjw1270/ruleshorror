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7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14"/>
    <p:sldId id="274" r:id="rId15"/>
    <p:sldId id="270" r:id="rId16"/>
  </p:sldIdLst>
  <p:sldSz cx="16256000" cy="9144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B322F-9E25-2622-B037-0F03A3E1E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53B74A3-5CFA-F2B9-6918-0E4D2E426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37B3E5-2A59-B9B3-C67A-9AFFDDBF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3501B7-EAE3-7AD5-6386-415C440F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DDBAA-E51A-1D94-0A94-504575230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200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D7763-BD8C-D1C1-A227-1F13CEFCA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0FC338-33F0-14B3-5E0E-696096FBF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8966C2-5C0B-6C44-4146-3FBD7AAC6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CF9B54-79BA-5AF2-8052-74B74180A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0389B4-9A54-0135-365A-BE52BA5E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4100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5B13B9-9178-F205-4F82-201E0474D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3"/>
            <a:ext cx="14020800" cy="380364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108FCA-18FF-78C4-7A7E-1D2971CBD1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6"/>
            <a:ext cx="14020800" cy="20002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B8BA94-9111-205E-11E5-2888792E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74DC90-CF6B-B996-D880-B5F627E7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EDDC386-0825-AAA4-53A1-33DB835D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869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4D48F-D1DC-9FC5-2A55-15084CF6A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3F838-99F8-6197-D2B9-2CD6C3F903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C2E0A2-0A36-F86B-ADB3-543556909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872CEE-2BD6-3EC4-FA43-7FD166C0E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265C40-69A0-2533-A8E3-BEA8DFFD7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FC99EDE-ABCB-FC64-305F-D524CFDF21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13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108C60-0FA0-3595-7DD0-3467D5EF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6"/>
            <a:ext cx="14020800" cy="176741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DA4029-E5BB-E8A7-3CF2-1555BC7A1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9" y="2241551"/>
            <a:ext cx="6877049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90CBD53-243A-1CBC-676D-9BCC71EB9F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9" y="3340100"/>
            <a:ext cx="6877049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912840F-2010-903A-7E78-4726C98F4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1" y="2241551"/>
            <a:ext cx="6910917" cy="10985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A021DC6-3624-C37E-60B8-A2BFA16D56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1" y="3340100"/>
            <a:ext cx="6910917" cy="491278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4DDC42-BF5D-2C77-44F0-C005F3430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0F66C24-A7E3-2F55-99A4-9B4071B9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F9A591-454F-D69F-1B32-CD06BDB7E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57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81FE3E-F17E-0AF8-7A28-285F53B06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78069C-1FE1-A871-E808-F5FB8278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FCA65F-3E31-395D-7EA1-1582C66D1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6C03013-1AA0-809B-9687-769DE2CA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6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81502E4-7742-CD71-51F0-8241BAC2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57D581-BD26-420B-56EA-3CD7B4577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D2A515-81C8-35F0-D856-F0033B328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1563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FEEEEA-F41D-E9A3-5C5B-242228D53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7E90D4-A0CC-1CA4-870A-EF94521B87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BE5EA7A-B855-4C72-47FB-5206CF1F6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5CA39D-8196-E5A5-BF21-9B5B7238F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D957B-C5E7-86B2-62C5-FA8245E2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54006D-7FD0-3033-ABF4-EB02408F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892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3A1BEA-21AB-CC4A-E20F-38EE58F82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9" y="609600"/>
            <a:ext cx="5242983" cy="21336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390558-A100-6A8D-38BA-18197A735B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9"/>
            <a:ext cx="8229600" cy="649816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4B96D7-6E49-1758-0487-188E6D8B7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9" y="2743200"/>
            <a:ext cx="5242983" cy="50821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26DA06-6A14-60AA-FA8F-6D93F2819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CE44709-E49C-8023-C648-E5AAC029C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05F888-141B-EA37-8911-E4144CDC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0291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0A5CFC-9551-A5EA-13BE-A19F0E2D6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287BEE-23D9-A0EF-2AAB-44D09ACB3C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2B8B141-C74D-B3F9-9A6E-ED4ECBA31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93FEB-D90B-1D48-8B04-2E1A222D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61556-1A95-473A-4FF2-9E83F5BE2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2060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BB1D8CD-9B65-B1AE-1F3A-FF282D904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7ADB18-4D7F-C65B-5A85-E5870488F9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52E3A8-77D2-D791-C2DF-EC29F723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37B9BB-2F52-488C-437C-3EEBF8CD8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E11B5D-DEA5-6514-1C1F-D5FC1C6E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100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16561A0-A419-80E3-976D-FDD21B57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6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2006DA-15DC-F9AA-9A8D-0166DB7E4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CE83F2F-6365-1C08-627A-381D0258E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25C3F-88ED-437E-A511-D36D939CCE01}" type="datetimeFigureOut">
              <a:rPr lang="ko-KR" altLang="en-US" smtClean="0"/>
              <a:t>2026-06-16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25A7FD-9F78-F80E-D67E-162ABA9CCF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6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D0D926-FEF4-18CC-0A50-BF3BFF2A02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6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3FED1-C0B5-46B2-ABC4-BC0B70AE8F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6343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V0NzNsPZ_LA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lseQIZLjQ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7D8FE6-FDE8-249E-0B08-69C78CA65CA4}"/>
              </a:ext>
            </a:extLst>
          </p:cNvPr>
          <p:cNvSpPr txBox="1"/>
          <p:nvPr/>
        </p:nvSpPr>
        <p:spPr>
          <a:xfrm>
            <a:off x="736600" y="787400"/>
            <a:ext cx="9652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EA580C"/>
                </a:solidFill>
                <a:latin typeface="맑은 고딕" panose="020B0503020000020004" pitchFamily="34" charset="-127"/>
              </a:rPr>
              <a:t>UE5 CLIENT SYSTEMS PORTFOLIO</a:t>
            </a:r>
            <a:endParaRPr lang="ko-KR" altLang="en-US" sz="13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DC159-DABF-642F-A6DA-54413A656AFC}"/>
              </a:ext>
            </a:extLst>
          </p:cNvPr>
          <p:cNvSpPr txBox="1"/>
          <p:nvPr/>
        </p:nvSpPr>
        <p:spPr>
          <a:xfrm>
            <a:off x="736600" y="1625600"/>
            <a:ext cx="9906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3400" b="1">
                <a:solidFill>
                  <a:srgbClr val="0F172A"/>
                </a:solidFill>
                <a:latin typeface="맑은 고딕" panose="020B0503020000020004" pitchFamily="34" charset="-127"/>
              </a:rPr>
              <a:t>플러그인 기반
클라이언트 시스템 포트폴리오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B8E88F-53CF-7141-FB85-C1F8EED96B0C}"/>
              </a:ext>
            </a:extLst>
          </p:cNvPr>
          <p:cNvSpPr txBox="1"/>
          <p:nvPr/>
        </p:nvSpPr>
        <p:spPr>
          <a:xfrm>
            <a:off x="762000" y="3429000"/>
            <a:ext cx="10414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>
                <a:solidFill>
                  <a:srgbClr val="475569"/>
                </a:solidFill>
                <a:latin typeface="맑은 고딕" panose="020B0503020000020004" pitchFamily="34" charset="-127"/>
              </a:rPr>
              <a:t>상호작용 </a:t>
            </a:r>
            <a:r>
              <a:rPr lang="en-US" altLang="ko-KR" sz="1500">
                <a:solidFill>
                  <a:srgbClr val="475569"/>
                </a:solidFill>
                <a:latin typeface="맑은 고딕" panose="020B0503020000020004" pitchFamily="34" charset="-127"/>
              </a:rPr>
              <a:t>· StoryFlow · 3D Monitor UI · Data / Save Pipeline</a:t>
            </a:r>
            <a:endParaRPr lang="ko-KR" altLang="en-US" sz="15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F39477-F156-76C6-801D-6432EAF8A542}"/>
              </a:ext>
            </a:extLst>
          </p:cNvPr>
          <p:cNvSpPr txBox="1"/>
          <p:nvPr/>
        </p:nvSpPr>
        <p:spPr>
          <a:xfrm>
            <a:off x="762000" y="7493000"/>
            <a:ext cx="762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0F172A"/>
                </a:solidFill>
                <a:latin typeface="맑은 고딕" panose="020B0503020000020004" pitchFamily="34" charset="-127"/>
              </a:rPr>
              <a:t>장윤제  </a:t>
            </a:r>
            <a:r>
              <a:rPr lang="en-US" altLang="ko-KR" sz="1500" b="1">
                <a:solidFill>
                  <a:srgbClr val="0F172A"/>
                </a:solidFill>
                <a:latin typeface="맑은 고딕" panose="020B0503020000020004" pitchFamily="34" charset="-127"/>
              </a:rPr>
              <a:t>|  jjw1270@gmail.com</a:t>
            </a:r>
            <a:endParaRPr lang="ko-KR" altLang="en-US" sz="1500" b="1">
              <a:solidFill>
                <a:srgbClr val="0F172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DF5EBEB-5B94-8C48-D760-CAD649C41F82}"/>
              </a:ext>
            </a:extLst>
          </p:cNvPr>
          <p:cNvSpPr/>
          <p:nvPr/>
        </p:nvSpPr>
        <p:spPr>
          <a:xfrm>
            <a:off x="736600" y="4127500"/>
            <a:ext cx="9779000" cy="584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92FF0D-DC44-3484-B5A8-A1631234496D}"/>
              </a:ext>
            </a:extLst>
          </p:cNvPr>
          <p:cNvSpPr txBox="1"/>
          <p:nvPr/>
        </p:nvSpPr>
        <p:spPr>
          <a:xfrm>
            <a:off x="1016000" y="4305300"/>
            <a:ext cx="920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본 자료는 콘텐츠 서술보다 </a:t>
            </a:r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UE5 C++ </a:t>
            </a:r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클라이언트 시스템 설계와 구현 판단을 중심으로 정리했습니다</a:t>
            </a:r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.</a:t>
            </a:r>
            <a:endParaRPr lang="ko-KR" altLang="en-US" sz="1300" b="1">
              <a:solidFill>
                <a:srgbClr val="2563EB"/>
              </a:solidFill>
              <a:latin typeface="맑은 고딕" panose="020B05030200000200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91D46E-076D-76A3-E723-3AC02B67246C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01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A18E35-61D4-67E5-582A-B0CC20CEEAC1}"/>
              </a:ext>
            </a:extLst>
          </p:cNvPr>
          <p:cNvSpPr txBox="1"/>
          <p:nvPr/>
        </p:nvSpPr>
        <p:spPr>
          <a:xfrm>
            <a:off x="736600" y="5179368"/>
            <a:ext cx="762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500" b="1" dirty="0">
                <a:solidFill>
                  <a:srgbClr val="0F172A"/>
                </a:solidFill>
                <a:latin typeface="맑은 고딕" panose="020B0503020000020004" pitchFamily="34" charset="-127"/>
              </a:rPr>
              <a:t>https://github.com/jjw1270/RulesHorror</a:t>
            </a:r>
            <a:endParaRPr lang="ko-KR" altLang="en-US" sz="1500" b="1" dirty="0">
              <a:solidFill>
                <a:srgbClr val="0F172A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07751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DAF23E-FFE6-A739-4372-647EA3C801A2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ARCHITECTURE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741FEA-BE95-8950-0073-BF3F426F1697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플러그인 기반 클라이언트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650C4F-FB84-5F73-C5B0-F54C1C3957C4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게임 본체는 조립부로 두고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반복 사용되는 기능은 플러그인과 서브시스템 경계로 분리했습니다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302E85E-571A-78BA-E66C-3E4713277FAF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9866085-A299-F561-01B7-52A1ACD77D26}"/>
              </a:ext>
            </a:extLst>
          </p:cNvPr>
          <p:cNvSpPr/>
          <p:nvPr/>
        </p:nvSpPr>
        <p:spPr>
          <a:xfrm>
            <a:off x="914400" y="2717800"/>
            <a:ext cx="3175000" cy="381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7E049-FBE5-EE0E-74A9-CD2D9C87410F}"/>
              </a:ext>
            </a:extLst>
          </p:cNvPr>
          <p:cNvSpPr txBox="1"/>
          <p:nvPr/>
        </p:nvSpPr>
        <p:spPr>
          <a:xfrm>
            <a:off x="1219200" y="3124200"/>
            <a:ext cx="2540000" cy="2923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900" b="1">
                <a:solidFill>
                  <a:srgbClr val="EA580C"/>
                </a:solidFill>
                <a:latin typeface="맑은 고딕" panose="020B0503020000020004" pitchFamily="34" charset="-127"/>
              </a:rPr>
              <a:t>CommonLibrary</a:t>
            </a:r>
            <a:endParaRPr lang="ko-KR" altLang="en-US" sz="19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78B8D-8E98-C57B-F867-5AD76FD8372B}"/>
              </a:ext>
            </a:extLst>
          </p:cNvPr>
          <p:cNvSpPr txBox="1"/>
          <p:nvPr/>
        </p:nvSpPr>
        <p:spPr>
          <a:xfrm>
            <a:off x="1320800" y="3886200"/>
            <a:ext cx="23495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500">
                <a:solidFill>
                  <a:srgbClr val="475569"/>
                </a:solidFill>
                <a:latin typeface="맑은 고딕" panose="020B0503020000020004" pitchFamily="34" charset="-127"/>
              </a:rPr>
              <a:t>로그 </a:t>
            </a:r>
            <a:r>
              <a:rPr lang="en-US" altLang="ko-KR" sz="1500">
                <a:solidFill>
                  <a:srgbClr val="475569"/>
                </a:solidFill>
                <a:latin typeface="맑은 고딕" panose="020B0503020000020004" pitchFamily="34" charset="-127"/>
              </a:rPr>
              <a:t>· </a:t>
            </a:r>
            <a:r>
              <a:rPr lang="ko-KR" altLang="en-US" sz="1500">
                <a:solidFill>
                  <a:srgbClr val="475569"/>
                </a:solidFill>
                <a:latin typeface="맑은 고딕" panose="020B0503020000020004" pitchFamily="34" charset="-127"/>
              </a:rPr>
              <a:t>유효성 검사 </a:t>
            </a:r>
            <a:r>
              <a:rPr lang="en-US" altLang="ko-KR" sz="1500">
                <a:solidFill>
                  <a:srgbClr val="475569"/>
                </a:solidFill>
                <a:latin typeface="맑은 고딕" panose="020B0503020000020004" pitchFamily="34" charset="-127"/>
              </a:rPr>
              <a:t>· </a:t>
            </a:r>
            <a:r>
              <a:rPr lang="ko-KR" altLang="en-US" sz="1500">
                <a:solidFill>
                  <a:srgbClr val="475569"/>
                </a:solidFill>
                <a:latin typeface="맑은 고딕" panose="020B0503020000020004" pitchFamily="34" charset="-127"/>
              </a:rPr>
              <a:t>에디터 알림 </a:t>
            </a:r>
            <a:r>
              <a:rPr lang="en-US" altLang="ko-KR" sz="1500">
                <a:solidFill>
                  <a:srgbClr val="475569"/>
                </a:solidFill>
                <a:latin typeface="맑은 고딕" panose="020B0503020000020004" pitchFamily="34" charset="-127"/>
              </a:rPr>
              <a:t>· </a:t>
            </a:r>
            <a:r>
              <a:rPr lang="ko-KR" altLang="en-US" sz="1500">
                <a:solidFill>
                  <a:srgbClr val="475569"/>
                </a:solidFill>
                <a:latin typeface="맑은 고딕" panose="020B0503020000020004" pitchFamily="34" charset="-127"/>
              </a:rPr>
              <a:t>공통 헬퍼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56ADE45-CC32-CAFB-C9F9-E2F8F616088A}"/>
              </a:ext>
            </a:extLst>
          </p:cNvPr>
          <p:cNvSpPr/>
          <p:nvPr/>
        </p:nvSpPr>
        <p:spPr>
          <a:xfrm>
            <a:off x="4978400" y="2260600"/>
            <a:ext cx="3175000" cy="1397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E3DFD5-2865-F724-C801-2F6BE530D843}"/>
              </a:ext>
            </a:extLst>
          </p:cNvPr>
          <p:cNvSpPr txBox="1"/>
          <p:nvPr/>
        </p:nvSpPr>
        <p:spPr>
          <a:xfrm>
            <a:off x="5308600" y="2641600"/>
            <a:ext cx="2514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b="1">
                <a:solidFill>
                  <a:srgbClr val="2563EB"/>
                </a:solidFill>
                <a:latin typeface="맑은 고딕" panose="020B0503020000020004" pitchFamily="34" charset="-127"/>
              </a:rPr>
              <a:t>InteractionSystem</a:t>
            </a:r>
            <a:endParaRPr lang="ko-KR" altLang="en-US" b="1">
              <a:solidFill>
                <a:srgbClr val="2563EB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68FE8F-C186-5513-5451-4DF0D5A3A50A}"/>
              </a:ext>
            </a:extLst>
          </p:cNvPr>
          <p:cNvSpPr txBox="1"/>
          <p:nvPr/>
        </p:nvSpPr>
        <p:spPr>
          <a:xfrm>
            <a:off x="5486400" y="30226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감지 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· Target · Overlay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6930DCF-D1E2-502C-2E4B-7DDA909E3356}"/>
              </a:ext>
            </a:extLst>
          </p:cNvPr>
          <p:cNvSpPr/>
          <p:nvPr/>
        </p:nvSpPr>
        <p:spPr>
          <a:xfrm>
            <a:off x="4978400" y="4089400"/>
            <a:ext cx="3175000" cy="13970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619622-9A9D-31F8-6D0F-87561B90D1D0}"/>
              </a:ext>
            </a:extLst>
          </p:cNvPr>
          <p:cNvSpPr txBox="1"/>
          <p:nvPr/>
        </p:nvSpPr>
        <p:spPr>
          <a:xfrm>
            <a:off x="5524500" y="4470400"/>
            <a:ext cx="2082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b="1">
                <a:solidFill>
                  <a:srgbClr val="0891B2"/>
                </a:solidFill>
                <a:latin typeface="맑은 고딕" panose="020B0503020000020004" pitchFamily="34" charset="-127"/>
              </a:rPr>
              <a:t>CustomUI</a:t>
            </a:r>
            <a:endParaRPr lang="ko-KR" altLang="en-US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D1459-6D59-3D27-B179-27360317E1B4}"/>
              </a:ext>
            </a:extLst>
          </p:cNvPr>
          <p:cNvSpPr txBox="1"/>
          <p:nvPr/>
        </p:nvSpPr>
        <p:spPr>
          <a:xfrm>
            <a:off x="5334000" y="4851400"/>
            <a:ext cx="2476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Widget 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기반 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· Popup · Registry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01D7189-BD48-8D8E-6FCF-59D89D552308}"/>
              </a:ext>
            </a:extLst>
          </p:cNvPr>
          <p:cNvSpPr/>
          <p:nvPr/>
        </p:nvSpPr>
        <p:spPr>
          <a:xfrm>
            <a:off x="9017000" y="2260600"/>
            <a:ext cx="3175000" cy="1397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BC605-4F98-C316-2613-5D84674E8A52}"/>
              </a:ext>
            </a:extLst>
          </p:cNvPr>
          <p:cNvSpPr txBox="1"/>
          <p:nvPr/>
        </p:nvSpPr>
        <p:spPr>
          <a:xfrm>
            <a:off x="9575800" y="2641600"/>
            <a:ext cx="203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b="1">
                <a:solidFill>
                  <a:srgbClr val="16A34A"/>
                </a:solidFill>
                <a:latin typeface="맑은 고딕" panose="020B0503020000020004" pitchFamily="34" charset="-127"/>
              </a:rPr>
              <a:t>StoryFlow</a:t>
            </a:r>
            <a:endParaRPr lang="ko-KR" altLang="en-US" b="1">
              <a:solidFill>
                <a:srgbClr val="16A34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746396-9769-8190-746E-91BB21E75CA1}"/>
              </a:ext>
            </a:extLst>
          </p:cNvPr>
          <p:cNvSpPr txBox="1"/>
          <p:nvPr/>
        </p:nvSpPr>
        <p:spPr>
          <a:xfrm>
            <a:off x="9499600" y="3022600"/>
            <a:ext cx="2159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Scene · Shot · Branch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460BAD7-1500-705E-F9C8-54D151D9E069}"/>
              </a:ext>
            </a:extLst>
          </p:cNvPr>
          <p:cNvSpPr/>
          <p:nvPr/>
        </p:nvSpPr>
        <p:spPr>
          <a:xfrm>
            <a:off x="9017000" y="4089400"/>
            <a:ext cx="3175000" cy="1397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8A6BAE-6103-74A8-4E33-4DF686FA2169}"/>
              </a:ext>
            </a:extLst>
          </p:cNvPr>
          <p:cNvSpPr txBox="1"/>
          <p:nvPr/>
        </p:nvSpPr>
        <p:spPr>
          <a:xfrm>
            <a:off x="9677400" y="44704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b="1">
                <a:solidFill>
                  <a:srgbClr val="7C3AED"/>
                </a:solidFill>
                <a:latin typeface="맑은 고딕" panose="020B0503020000020004" pitchFamily="34" charset="-127"/>
              </a:rPr>
              <a:t>ItemCore</a:t>
            </a:r>
            <a:endParaRPr lang="ko-KR" altLang="en-US" b="1">
              <a:solidFill>
                <a:srgbClr val="7C3AED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B5FD9B-A2DA-B76E-7F87-800E1962E4DC}"/>
              </a:ext>
            </a:extLst>
          </p:cNvPr>
          <p:cNvSpPr txBox="1"/>
          <p:nvPr/>
        </p:nvSpPr>
        <p:spPr>
          <a:xfrm>
            <a:off x="9347200" y="4851400"/>
            <a:ext cx="254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ItemID · DataTable · Registry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17C9DF0F-F57D-7BEA-8B34-2C610D2D123A}"/>
              </a:ext>
            </a:extLst>
          </p:cNvPr>
          <p:cNvSpPr/>
          <p:nvPr/>
        </p:nvSpPr>
        <p:spPr>
          <a:xfrm>
            <a:off x="12827000" y="3175000"/>
            <a:ext cx="24130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D91AA7-FAB4-4094-323A-07CE2EBE5138}"/>
              </a:ext>
            </a:extLst>
          </p:cNvPr>
          <p:cNvSpPr txBox="1"/>
          <p:nvPr/>
        </p:nvSpPr>
        <p:spPr>
          <a:xfrm>
            <a:off x="13258800" y="3530600"/>
            <a:ext cx="1524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b="1">
                <a:solidFill>
                  <a:srgbClr val="0F172A"/>
                </a:solidFill>
                <a:latin typeface="맑은 고딕" panose="020B0503020000020004" pitchFamily="34" charset="-127"/>
              </a:rPr>
              <a:t>SaveGame</a:t>
            </a:r>
            <a:endParaRPr lang="ko-KR" altLang="en-US" b="1">
              <a:solidFill>
                <a:srgbClr val="0F172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DA5896A-1D0E-7BFE-A151-7A741092E5EB}"/>
              </a:ext>
            </a:extLst>
          </p:cNvPr>
          <p:cNvSpPr txBox="1"/>
          <p:nvPr/>
        </p:nvSpPr>
        <p:spPr>
          <a:xfrm>
            <a:off x="13182600" y="4013200"/>
            <a:ext cx="1714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475569"/>
                </a:solidFill>
                <a:latin typeface="맑은 고딕" panose="020B0503020000020004" pitchFamily="34" charset="-127"/>
              </a:rPr>
              <a:t>진행 위치와 상태를 저장 </a:t>
            </a:r>
            <a:r>
              <a:rPr lang="en-US" altLang="ko-KR" sz="1200">
                <a:solidFill>
                  <a:srgbClr val="475569"/>
                </a:solidFill>
                <a:latin typeface="맑은 고딕" panose="020B0503020000020004" pitchFamily="34" charset="-127"/>
              </a:rPr>
              <a:t>/ </a:t>
            </a:r>
            <a:r>
              <a:rPr lang="ko-KR" altLang="en-US" sz="1200">
                <a:solidFill>
                  <a:srgbClr val="475569"/>
                </a:solidFill>
                <a:latin typeface="맑은 고딕" panose="020B0503020000020004" pitchFamily="34" charset="-127"/>
              </a:rPr>
              <a:t>복원하는 공통 경계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35404B-D683-D51F-E17D-A7920D3C9B88}"/>
              </a:ext>
            </a:extLst>
          </p:cNvPr>
          <p:cNvSpPr txBox="1"/>
          <p:nvPr/>
        </p:nvSpPr>
        <p:spPr>
          <a:xfrm>
            <a:off x="2032000" y="717550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0F172A"/>
                </a:solidFill>
                <a:latin typeface="맑은 고딕" panose="020B0503020000020004" pitchFamily="34" charset="-127"/>
              </a:rPr>
              <a:t>공통 기반 위에 기능 플러그인을 쌓고</a:t>
            </a:r>
            <a:r>
              <a:rPr lang="en-US" altLang="ko-KR" b="1">
                <a:solidFill>
                  <a:srgbClr val="0F172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b="1">
                <a:solidFill>
                  <a:srgbClr val="0F172A"/>
                </a:solidFill>
                <a:latin typeface="맑은 고딕" panose="020B0503020000020004" pitchFamily="34" charset="-127"/>
              </a:rPr>
              <a:t>프로젝트 본체는 필요한 기능을 조립합니다</a:t>
            </a:r>
            <a:r>
              <a:rPr lang="en-US" altLang="ko-KR" b="1">
                <a:solidFill>
                  <a:srgbClr val="0F172A"/>
                </a:solidFill>
                <a:latin typeface="맑은 고딕" panose="020B0503020000020004" pitchFamily="34" charset="-127"/>
              </a:rPr>
              <a:t>.</a:t>
            </a:r>
            <a:endParaRPr lang="ko-KR" altLang="en-US" b="1">
              <a:solidFill>
                <a:srgbClr val="0F172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56C6A5-81C6-DD31-02E6-DB09A2C023A5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02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CACC646-3FD3-37F8-6276-6EE026B61701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67058D-6A59-86F9-C3CF-008A279BD861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02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2EDD4F3-5DBD-8DD4-139F-5D4757A2C505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766F43-89B0-0C31-93BD-CC9852470126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02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64539729-9DD8-D83E-3FE6-E5BDE7B7EC35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FDE3FE-92FB-3784-91FA-F725873D91D3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02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32022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728F74-B108-CB3E-5A08-874E8FC0344F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STORYFLOW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DEDE6-A812-18FD-4CC8-14C99BB984B2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그래프 기반 진행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7D7508-F3A8-C8CE-6E52-F3708B40E5D4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진행 단위를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Scene / Shot / Branch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로 분리해 편집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검증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런타임 실행 경계를 만들었습니다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46C16-0CC1-54FC-E955-07612AFE3606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E4AA0C8-BB0F-2B48-C22D-BF40F7A09D00}"/>
              </a:ext>
            </a:extLst>
          </p:cNvPr>
          <p:cNvSpPr/>
          <p:nvPr/>
        </p:nvSpPr>
        <p:spPr>
          <a:xfrm>
            <a:off x="736600" y="2413000"/>
            <a:ext cx="8255000" cy="292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F7F4FC4-E082-06B7-B5C8-03CFD7A0B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009" y="3034602"/>
            <a:ext cx="8148182" cy="138496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64A3B913-6969-2B21-FEDE-51B9DF8D6DAE}"/>
              </a:ext>
            </a:extLst>
          </p:cNvPr>
          <p:cNvSpPr/>
          <p:nvPr/>
        </p:nvSpPr>
        <p:spPr>
          <a:xfrm>
            <a:off x="889000" y="4902200"/>
            <a:ext cx="7950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9DC6A5-71C9-91E0-9E82-75066CB49F16}"/>
              </a:ext>
            </a:extLst>
          </p:cNvPr>
          <p:cNvSpPr txBox="1"/>
          <p:nvPr/>
        </p:nvSpPr>
        <p:spPr>
          <a:xfrm>
            <a:off x="1041400" y="4965700"/>
            <a:ext cx="7645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StoryFlow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그래프 에디터 캡처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18B72FA-6E2B-0753-569A-FE62A3A8B147}"/>
              </a:ext>
            </a:extLst>
          </p:cNvPr>
          <p:cNvSpPr/>
          <p:nvPr/>
        </p:nvSpPr>
        <p:spPr>
          <a:xfrm>
            <a:off x="736600" y="6146800"/>
            <a:ext cx="4572000" cy="1524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3CDD4F5-D7AB-3727-A65C-F812D2A9814B}"/>
              </a:ext>
            </a:extLst>
          </p:cNvPr>
          <p:cNvSpPr/>
          <p:nvPr/>
        </p:nvSpPr>
        <p:spPr>
          <a:xfrm>
            <a:off x="736600" y="6146800"/>
            <a:ext cx="63500" cy="1524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0F39E3-2AE0-F82E-130E-0E18676265E7}"/>
              </a:ext>
            </a:extLst>
          </p:cNvPr>
          <p:cNvSpPr txBox="1"/>
          <p:nvPr/>
        </p:nvSpPr>
        <p:spPr>
          <a:xfrm>
            <a:off x="990600" y="63754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EFFD6D-D140-A379-009B-3E7D823B16F1}"/>
              </a:ext>
            </a:extLst>
          </p:cNvPr>
          <p:cNvSpPr txBox="1"/>
          <p:nvPr/>
        </p:nvSpPr>
        <p:spPr>
          <a:xfrm>
            <a:off x="990600" y="6781800"/>
            <a:ext cx="412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진행 흐름이 레벨과 개별 위젯에 흩어지면 수정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검증 비용이 커집니다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D369DEA-B097-5976-514E-C481DCDC72E4}"/>
              </a:ext>
            </a:extLst>
          </p:cNvPr>
          <p:cNvSpPr/>
          <p:nvPr/>
        </p:nvSpPr>
        <p:spPr>
          <a:xfrm>
            <a:off x="5842000" y="6146800"/>
            <a:ext cx="4572000" cy="1524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393E7-4756-42C3-2547-411F2C7753F9}"/>
              </a:ext>
            </a:extLst>
          </p:cNvPr>
          <p:cNvSpPr/>
          <p:nvPr/>
        </p:nvSpPr>
        <p:spPr>
          <a:xfrm>
            <a:off x="5842000" y="6146800"/>
            <a:ext cx="63500" cy="1524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13F565-3F35-31A8-BAA1-6F03A1A35C4C}"/>
              </a:ext>
            </a:extLst>
          </p:cNvPr>
          <p:cNvSpPr txBox="1"/>
          <p:nvPr/>
        </p:nvSpPr>
        <p:spPr>
          <a:xfrm>
            <a:off x="6096000" y="63754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34" charset="-127"/>
              </a:rPr>
              <a:t>어떻게 구현했나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49D4CF-BE95-C598-B540-C8413217DC78}"/>
              </a:ext>
            </a:extLst>
          </p:cNvPr>
          <p:cNvSpPr txBox="1"/>
          <p:nvPr/>
        </p:nvSpPr>
        <p:spPr>
          <a:xfrm>
            <a:off x="6096000" y="6781800"/>
            <a:ext cx="412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편집 가능한 그래프를 만들고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실행 전 검증한 뒤 런타임에서는 확인된 흐름만 소비하도록 나눴습니다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C9FEECD-98E1-4D47-0DB3-0D3F53285DEF}"/>
              </a:ext>
            </a:extLst>
          </p:cNvPr>
          <p:cNvSpPr/>
          <p:nvPr/>
        </p:nvSpPr>
        <p:spPr>
          <a:xfrm>
            <a:off x="10947400" y="6146800"/>
            <a:ext cx="4572000" cy="1524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0AD182B-5AF5-E7CA-87F6-CDCAA69DF473}"/>
              </a:ext>
            </a:extLst>
          </p:cNvPr>
          <p:cNvSpPr/>
          <p:nvPr/>
        </p:nvSpPr>
        <p:spPr>
          <a:xfrm>
            <a:off x="10947400" y="6146800"/>
            <a:ext cx="63500" cy="1524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C36E543-EE25-24FA-7ECE-D166651A91B7}"/>
              </a:ext>
            </a:extLst>
          </p:cNvPr>
          <p:cNvSpPr txBox="1"/>
          <p:nvPr/>
        </p:nvSpPr>
        <p:spPr>
          <a:xfrm>
            <a:off x="11201400" y="63754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A34A"/>
                </a:solidFill>
                <a:latin typeface="맑은 고딕" panose="020B0503020000020004" pitchFamily="34" charset="-127"/>
              </a:rPr>
              <a:t>얻는 이점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05637A-A1D4-7088-7B10-F1A619EF2720}"/>
              </a:ext>
            </a:extLst>
          </p:cNvPr>
          <p:cNvSpPr txBox="1"/>
          <p:nvPr/>
        </p:nvSpPr>
        <p:spPr>
          <a:xfrm>
            <a:off x="11201400" y="6781800"/>
            <a:ext cx="4127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진행 구조를 시각적으로 확인하고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특정 지점부터 테스트하며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이후 콘텐츠 확장에도 같은 실행 규칙을 유지할 수 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1" name="사각형: 둥근 모서리 10">
            <a:hlinkClick r:id="rId3"/>
            <a:extLst>
              <a:ext uri="{FF2B5EF4-FFF2-40B4-BE49-F238E27FC236}">
                <a16:creationId xmlns:a16="http://schemas.microsoft.com/office/drawing/2014/main" id="{5698BEEC-23D5-1E0F-D5D7-0B8956557525}"/>
              </a:ext>
            </a:extLst>
          </p:cNvPr>
          <p:cNvSpPr/>
          <p:nvPr/>
        </p:nvSpPr>
        <p:spPr>
          <a:xfrm>
            <a:off x="9461500" y="3175000"/>
            <a:ext cx="5334000" cy="8128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hlinkClick r:id="rId3"/>
            <a:extLst>
              <a:ext uri="{FF2B5EF4-FFF2-40B4-BE49-F238E27FC236}">
                <a16:creationId xmlns:a16="http://schemas.microsoft.com/office/drawing/2014/main" id="{0B0423B4-9FA0-79BB-52EF-62EEC9869D7F}"/>
              </a:ext>
            </a:extLst>
          </p:cNvPr>
          <p:cNvSpPr txBox="1"/>
          <p:nvPr/>
        </p:nvSpPr>
        <p:spPr>
          <a:xfrm>
            <a:off x="9690100" y="3302000"/>
            <a:ext cx="4876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시연 영상</a:t>
            </a:r>
            <a:r>
              <a:rPr lang="en-US" altLang="ko-KR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: </a:t>
            </a:r>
            <a:r>
              <a:rPr lang="ko-KR" altLang="en-US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게임 시작 → 로비 진입</a:t>
            </a:r>
          </a:p>
        </p:txBody>
      </p:sp>
      <p:sp>
        <p:nvSpPr>
          <p:cNvPr id="28" name="TextBox 27">
            <a:hlinkClick r:id="rId3"/>
            <a:extLst>
              <a:ext uri="{FF2B5EF4-FFF2-40B4-BE49-F238E27FC236}">
                <a16:creationId xmlns:a16="http://schemas.microsoft.com/office/drawing/2014/main" id="{DE90D116-419E-E1AE-653A-411648927414}"/>
              </a:ext>
            </a:extLst>
          </p:cNvPr>
          <p:cNvSpPr txBox="1"/>
          <p:nvPr/>
        </p:nvSpPr>
        <p:spPr>
          <a:xfrm>
            <a:off x="9690100" y="3606800"/>
            <a:ext cx="4876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475569"/>
                </a:solidFill>
                <a:latin typeface="맑은 고딕" panose="020B0503020000020004" pitchFamily="34" charset="-127"/>
              </a:rPr>
              <a:t>https://www.youtube.com/watch?v=V0NzNsPZ_LA</a:t>
            </a:r>
            <a:endParaRPr lang="ko-KR" altLang="en-US" sz="10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5AA77-6D8E-F378-A144-E23C86587AF4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03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E7B2DF9-D340-8CD6-77A0-35A0EDF30278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46EB1-6D2F-0812-5802-B6A18535D696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04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68C01A26-D19E-104A-AA38-79EC9B5AAE06}"/>
              </a:ext>
            </a:extLst>
          </p:cNvPr>
          <p:cNvSpPr/>
          <p:nvPr/>
        </p:nvSpPr>
        <p:spPr>
          <a:xfrm>
            <a:off x="711200" y="2260600"/>
            <a:ext cx="6604000" cy="41402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3818ECE6-9E8D-E276-A269-89BD90F5720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514600"/>
            <a:ext cx="6350000" cy="2425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624C6C53-95A9-9924-E3BB-A774D79344F6}"/>
              </a:ext>
            </a:extLst>
          </p:cNvPr>
          <p:cNvSpPr txBox="1"/>
          <p:nvPr/>
        </p:nvSpPr>
        <p:spPr>
          <a:xfrm>
            <a:off x="990600" y="5232400"/>
            <a:ext cx="5842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구조 요약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: Subsystem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SceneAsset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의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EntryLink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와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NodeData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해석해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Shot / Branch / Scene 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실행을 연결합니다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8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095E311-C8DF-A726-C46A-181D45877699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882102-2569-B065-0EB2-BB5EE9123FE2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03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E253F5D-0C4B-8ACF-B915-B260BEBEB2BC}"/>
              </a:ext>
            </a:extLst>
          </p:cNvPr>
          <p:cNvSpPr/>
          <p:nvPr/>
        </p:nvSpPr>
        <p:spPr>
          <a:xfrm>
            <a:off x="711200" y="2260600"/>
            <a:ext cx="6604000" cy="41402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6786129D-BAB9-D1E1-8A49-88798E1E0C7F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514600"/>
            <a:ext cx="6350000" cy="24257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5ECD97D-0FFC-F1AD-549A-A744D1885DF9}"/>
              </a:ext>
            </a:extLst>
          </p:cNvPr>
          <p:cNvSpPr txBox="1"/>
          <p:nvPr/>
        </p:nvSpPr>
        <p:spPr>
          <a:xfrm>
            <a:off x="990600" y="5232400"/>
            <a:ext cx="5842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구조 요약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: Subsystem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SceneAsset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의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EntryLink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와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NodeData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해석해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Shot / Branch / Scene 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실행을 연결합니다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8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DB1EDEE-6F88-572D-A710-C3AEE616E56A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20B2DB-85FB-728C-EA6E-0C9A316BEBA6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03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FC28129-3455-4A86-DC0F-E41C5631A17B}"/>
              </a:ext>
            </a:extLst>
          </p:cNvPr>
          <p:cNvSpPr/>
          <p:nvPr/>
        </p:nvSpPr>
        <p:spPr>
          <a:xfrm>
            <a:off x="635000" y="2260600"/>
            <a:ext cx="14414500" cy="58674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600D957-CD9E-1C22-57EA-D73DA0780AA8}"/>
              </a:ext>
            </a:extLst>
          </p:cNvPr>
          <p:cNvSpPr/>
          <p:nvPr/>
        </p:nvSpPr>
        <p:spPr>
          <a:xfrm>
            <a:off x="736600" y="2413000"/>
            <a:ext cx="8255000" cy="30480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201D7513-5592-552A-6960-C082C8540F02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641600"/>
            <a:ext cx="7874000" cy="22987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BAA3F9FD-26B2-E3B4-071A-13B87C29E9A0}"/>
              </a:ext>
            </a:extLst>
          </p:cNvPr>
          <p:cNvSpPr txBox="1"/>
          <p:nvPr/>
        </p:nvSpPr>
        <p:spPr>
          <a:xfrm>
            <a:off x="990600" y="5130800"/>
            <a:ext cx="762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SceneAsset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의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EntryLink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가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Shot / Branch / Scene 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링크를 결정하고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, Subsystem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이 런타임 이동을 처리합니다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8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D81E33A-3CEC-B5BF-AA50-98221E23E741}"/>
              </a:ext>
            </a:extLst>
          </p:cNvPr>
          <p:cNvSpPr/>
          <p:nvPr/>
        </p:nvSpPr>
        <p:spPr>
          <a:xfrm>
            <a:off x="9461500" y="3175000"/>
            <a:ext cx="5334000" cy="8128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22C55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8BC60D-F678-29DC-7545-8D6F4DBC10E0}"/>
              </a:ext>
            </a:extLst>
          </p:cNvPr>
          <p:cNvSpPr txBox="1"/>
          <p:nvPr/>
        </p:nvSpPr>
        <p:spPr>
          <a:xfrm>
            <a:off x="9690100" y="3302000"/>
            <a:ext cx="48768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 b="1">
                <a:solidFill>
                  <a:srgbClr val="16A34A"/>
                </a:solidFill>
                <a:latin typeface="맑은 고딕" panose="020B0503020000020004" pitchFamily="34" charset="-127"/>
              </a:rPr>
              <a:t>시연 영상</a:t>
            </a:r>
            <a:r>
              <a:rPr lang="en-US" altLang="ko-KR" sz="1100" b="1">
                <a:solidFill>
                  <a:srgbClr val="16A34A"/>
                </a:solidFill>
                <a:latin typeface="맑은 고딕" panose="020B0503020000020004" pitchFamily="34" charset="-127"/>
              </a:rPr>
              <a:t>: </a:t>
            </a:r>
            <a:r>
              <a:rPr lang="ko-KR" altLang="en-US" sz="1100" b="1">
                <a:solidFill>
                  <a:srgbClr val="16A34A"/>
                </a:solidFill>
                <a:latin typeface="맑은 고딕" panose="020B0503020000020004" pitchFamily="34" charset="-127"/>
              </a:rPr>
              <a:t>게임 시작 → 로비 진입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77F0B43-5E41-40BF-6488-628E2FC5B6E0}"/>
              </a:ext>
            </a:extLst>
          </p:cNvPr>
          <p:cNvSpPr txBox="1"/>
          <p:nvPr/>
        </p:nvSpPr>
        <p:spPr>
          <a:xfrm>
            <a:off x="9690100" y="3632200"/>
            <a:ext cx="48768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50">
                <a:solidFill>
                  <a:srgbClr val="64748B"/>
                </a:solidFill>
                <a:latin typeface="맑은 고딕" panose="020B0503020000020004" pitchFamily="34" charset="-127"/>
              </a:rPr>
              <a:t>https://www.youtube.com/watch?v=V0NzNsPZ_LA</a:t>
            </a:r>
            <a:endParaRPr lang="ko-KR" altLang="en-US" sz="750">
              <a:solidFill>
                <a:srgbClr val="64748B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8A6F89A-05D4-95F3-1A10-03E97DEA9FAF}"/>
              </a:ext>
            </a:extLst>
          </p:cNvPr>
          <p:cNvSpPr/>
          <p:nvPr/>
        </p:nvSpPr>
        <p:spPr>
          <a:xfrm>
            <a:off x="736600" y="6146800"/>
            <a:ext cx="4572000" cy="15240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23C6F4D-44D4-7938-68F8-BC18C73ABC6D}"/>
              </a:ext>
            </a:extLst>
          </p:cNvPr>
          <p:cNvSpPr/>
          <p:nvPr/>
        </p:nvSpPr>
        <p:spPr>
          <a:xfrm>
            <a:off x="736600" y="6146800"/>
            <a:ext cx="63500" cy="1524000"/>
          </a:xfrm>
          <a:prstGeom prst="rect">
            <a:avLst/>
          </a:prstGeom>
          <a:solidFill>
            <a:srgbClr val="F954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E17DF3-684D-5DF8-582C-C1CBDD9D3800}"/>
              </a:ext>
            </a:extLst>
          </p:cNvPr>
          <p:cNvSpPr txBox="1"/>
          <p:nvPr/>
        </p:nvSpPr>
        <p:spPr>
          <a:xfrm>
            <a:off x="990600" y="63627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F95418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2ED008A-3436-48DB-3949-676284FF20A3}"/>
              </a:ext>
            </a:extLst>
          </p:cNvPr>
          <p:cNvSpPr txBox="1"/>
          <p:nvPr/>
        </p:nvSpPr>
        <p:spPr>
          <a:xfrm>
            <a:off x="990600" y="67564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진행 흐름이 레벨과 개별 위젯에 흩어지면 수정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검증 비용이 커집니다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0EBC907-0013-A77D-00D9-A422F1B29CA2}"/>
              </a:ext>
            </a:extLst>
          </p:cNvPr>
          <p:cNvSpPr/>
          <p:nvPr/>
        </p:nvSpPr>
        <p:spPr>
          <a:xfrm>
            <a:off x="5842000" y="6146800"/>
            <a:ext cx="4572000" cy="15240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208A0E4-8A7E-306F-243B-A2E7CA33CC98}"/>
              </a:ext>
            </a:extLst>
          </p:cNvPr>
          <p:cNvSpPr/>
          <p:nvPr/>
        </p:nvSpPr>
        <p:spPr>
          <a:xfrm>
            <a:off x="5842000" y="6146800"/>
            <a:ext cx="63500" cy="1524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D516FBB-91C4-0653-7795-F3C66273CC36}"/>
              </a:ext>
            </a:extLst>
          </p:cNvPr>
          <p:cNvSpPr txBox="1"/>
          <p:nvPr/>
        </p:nvSpPr>
        <p:spPr>
          <a:xfrm>
            <a:off x="6096000" y="63627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어떻게 구성했나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DA22D7-AEAA-A7BC-A1AD-5C86188F5394}"/>
              </a:ext>
            </a:extLst>
          </p:cNvPr>
          <p:cNvSpPr txBox="1"/>
          <p:nvPr/>
        </p:nvSpPr>
        <p:spPr>
          <a:xfrm>
            <a:off x="6096000" y="67564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Scene / Shot / Branch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를 데이터와 실행 클래스로 나누고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링크 이동은 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Subsystem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에서만 처리합니다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D2E4625-BFED-99C7-74D5-11156A935792}"/>
              </a:ext>
            </a:extLst>
          </p:cNvPr>
          <p:cNvSpPr/>
          <p:nvPr/>
        </p:nvSpPr>
        <p:spPr>
          <a:xfrm>
            <a:off x="10947400" y="6146800"/>
            <a:ext cx="4572000" cy="15240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C6CCF26-6DA7-7E3F-318E-40FA566510EE}"/>
              </a:ext>
            </a:extLst>
          </p:cNvPr>
          <p:cNvSpPr/>
          <p:nvPr/>
        </p:nvSpPr>
        <p:spPr>
          <a:xfrm>
            <a:off x="10947400" y="6146800"/>
            <a:ext cx="63500" cy="1524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EFEBF5C-6D4E-701A-95D2-D240E008CAE7}"/>
              </a:ext>
            </a:extLst>
          </p:cNvPr>
          <p:cNvSpPr txBox="1"/>
          <p:nvPr/>
        </p:nvSpPr>
        <p:spPr>
          <a:xfrm>
            <a:off x="11201400" y="63627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얻은 이점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E6B668-BB7A-6B4A-CB21-E535EAA998B3}"/>
              </a:ext>
            </a:extLst>
          </p:cNvPr>
          <p:cNvSpPr txBox="1"/>
          <p:nvPr/>
        </p:nvSpPr>
        <p:spPr>
          <a:xfrm>
            <a:off x="11201400" y="67564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진행 구조를 시각적으로 확인하고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특정 지점부터 테스트하며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이후 콘텐츠 확장에도 같은 실행 규칙을 유지합니다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87733D8-8C3E-19AC-73CA-C4A446BF1177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4C6F66F-3CD6-2F95-3151-35496CC1D41E}"/>
              </a:ext>
            </a:extLst>
          </p:cNvPr>
          <p:cNvSpPr txBox="1"/>
          <p:nvPr/>
        </p:nvSpPr>
        <p:spPr>
          <a:xfrm>
            <a:off x="15240000" y="8432800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rgbClr val="94A3B8"/>
                </a:solidFill>
                <a:latin typeface="맑은 고딕" panose="020B0503020000020004" pitchFamily="34" charset="-127"/>
              </a:rPr>
              <a:t>03</a:t>
            </a:r>
            <a:endParaRPr lang="ko-KR" altLang="en-US" sz="700">
              <a:solidFill>
                <a:srgbClr val="94A3B8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79038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083B33-E4C7-C8CD-466C-51702CE5A042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STORYFLOW SPLIT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4EF76D-DEE7-1248-4D89-71436A04FF35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에디터 제작 경계와 런타임 실행 경계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F72707-0D77-FD09-1310-D3C4FC3BBEDD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에디터에서는 데이터와 연결을 검증하고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런타임에서는 현재 진행 위치를 기준으로 실행합니다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3BDACE-E1E4-64C8-EA8B-BDBAA0CDA632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AD72506-7487-897D-DB1A-57CEDBC01FFC}"/>
              </a:ext>
            </a:extLst>
          </p:cNvPr>
          <p:cNvSpPr/>
          <p:nvPr/>
        </p:nvSpPr>
        <p:spPr>
          <a:xfrm>
            <a:off x="736600" y="2413000"/>
            <a:ext cx="3302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4B9C90D-A127-095A-80FA-42463BE67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408" y="2621850"/>
            <a:ext cx="1964383" cy="1741299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6C6E3F3-E68C-8ACD-CB92-7616CC63934E}"/>
              </a:ext>
            </a:extLst>
          </p:cNvPr>
          <p:cNvSpPr/>
          <p:nvPr/>
        </p:nvSpPr>
        <p:spPr>
          <a:xfrm>
            <a:off x="889000" y="4140200"/>
            <a:ext cx="2997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88DAE4-9C2E-CE4B-AEF9-07B81D760AD5}"/>
              </a:ext>
            </a:extLst>
          </p:cNvPr>
          <p:cNvSpPr txBox="1"/>
          <p:nvPr/>
        </p:nvSpPr>
        <p:spPr>
          <a:xfrm>
            <a:off x="1041400" y="42037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Scene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설정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3252AD3-A43C-8819-410D-20C64C876ADF}"/>
              </a:ext>
            </a:extLst>
          </p:cNvPr>
          <p:cNvSpPr/>
          <p:nvPr/>
        </p:nvSpPr>
        <p:spPr>
          <a:xfrm>
            <a:off x="4445000" y="2413000"/>
            <a:ext cx="3302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5CC6392-4DA3-96ED-D601-6D944936DE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078" y="2562263"/>
            <a:ext cx="2277844" cy="1860475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A4DE57B7-81DA-106B-2B3E-DD0A616073FC}"/>
              </a:ext>
            </a:extLst>
          </p:cNvPr>
          <p:cNvSpPr/>
          <p:nvPr/>
        </p:nvSpPr>
        <p:spPr>
          <a:xfrm>
            <a:off x="4597400" y="4140200"/>
            <a:ext cx="2997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1673D1-BA83-BFAC-35B0-5C0D58D8ECFA}"/>
              </a:ext>
            </a:extLst>
          </p:cNvPr>
          <p:cNvSpPr txBox="1"/>
          <p:nvPr/>
        </p:nvSpPr>
        <p:spPr>
          <a:xfrm>
            <a:off x="4749800" y="42037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Shot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설정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100A09A-865D-3C5E-6D55-4390971A6A47}"/>
              </a:ext>
            </a:extLst>
          </p:cNvPr>
          <p:cNvSpPr/>
          <p:nvPr/>
        </p:nvSpPr>
        <p:spPr>
          <a:xfrm>
            <a:off x="8153400" y="2413000"/>
            <a:ext cx="3302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94670A37-60E6-5B88-665A-B6CCD20ECE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254" y="2515255"/>
            <a:ext cx="1320291" cy="1623377"/>
          </a:xfrm>
          <a:prstGeom prst="rect">
            <a:avLst/>
          </a:prstGeom>
        </p:spPr>
      </p:pic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0331A9B-8796-16D5-E234-94C224356800}"/>
              </a:ext>
            </a:extLst>
          </p:cNvPr>
          <p:cNvSpPr/>
          <p:nvPr/>
        </p:nvSpPr>
        <p:spPr>
          <a:xfrm>
            <a:off x="8305800" y="4140200"/>
            <a:ext cx="2997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505993-9984-67A4-F289-F35CB0DB4DE5}"/>
              </a:ext>
            </a:extLst>
          </p:cNvPr>
          <p:cNvSpPr txBox="1"/>
          <p:nvPr/>
        </p:nvSpPr>
        <p:spPr>
          <a:xfrm>
            <a:off x="8458200" y="42037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Branch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설정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E7114DC1-ACAF-6E3E-E1B2-8C8B9024964F}"/>
              </a:ext>
            </a:extLst>
          </p:cNvPr>
          <p:cNvSpPr/>
          <p:nvPr/>
        </p:nvSpPr>
        <p:spPr>
          <a:xfrm>
            <a:off x="11861800" y="2413000"/>
            <a:ext cx="33020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A8A9A94-00A9-5E84-08EC-CDA0DB8638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5877" y="2577644"/>
            <a:ext cx="2733846" cy="1501627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7246FDF7-D114-F1B4-8D85-3F1E97CA58AA}"/>
              </a:ext>
            </a:extLst>
          </p:cNvPr>
          <p:cNvSpPr/>
          <p:nvPr/>
        </p:nvSpPr>
        <p:spPr>
          <a:xfrm>
            <a:off x="12014200" y="4140200"/>
            <a:ext cx="2997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34A9427-D344-4C2B-A61F-F9EA0E880DAB}"/>
              </a:ext>
            </a:extLst>
          </p:cNvPr>
          <p:cNvSpPr txBox="1"/>
          <p:nvPr/>
        </p:nvSpPr>
        <p:spPr>
          <a:xfrm>
            <a:off x="12166600" y="4203700"/>
            <a:ext cx="269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전역 설정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D0A4D4F2-B06F-AC73-CC01-5B0DC027E205}"/>
              </a:ext>
            </a:extLst>
          </p:cNvPr>
          <p:cNvSpPr/>
          <p:nvPr/>
        </p:nvSpPr>
        <p:spPr>
          <a:xfrm>
            <a:off x="1397000" y="5435600"/>
            <a:ext cx="2550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EE9D4B-4EA7-C868-B219-7A352C0593D2}"/>
              </a:ext>
            </a:extLst>
          </p:cNvPr>
          <p:cNvSpPr txBox="1"/>
          <p:nvPr/>
        </p:nvSpPr>
        <p:spPr>
          <a:xfrm>
            <a:off x="1498600" y="5651500"/>
            <a:ext cx="23469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16A34A"/>
                </a:solidFill>
                <a:latin typeface="맑은 고딕" panose="020B0503020000020004" pitchFamily="34" charset="-127"/>
              </a:rPr>
              <a:t>그래프 편집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4CF5937-3895-AFB2-5CE2-1D998F5177BC}"/>
              </a:ext>
            </a:extLst>
          </p:cNvPr>
          <p:cNvSpPr txBox="1"/>
          <p:nvPr/>
        </p:nvSpPr>
        <p:spPr>
          <a:xfrm>
            <a:off x="3896360" y="5638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C94BCCB-DAB2-EFAA-908B-116CC515578C}"/>
              </a:ext>
            </a:extLst>
          </p:cNvPr>
          <p:cNvSpPr/>
          <p:nvPr/>
        </p:nvSpPr>
        <p:spPr>
          <a:xfrm>
            <a:off x="4124960" y="5435600"/>
            <a:ext cx="2550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19B857-5BFB-E931-1EDD-C6505C7426C9}"/>
              </a:ext>
            </a:extLst>
          </p:cNvPr>
          <p:cNvSpPr txBox="1"/>
          <p:nvPr/>
        </p:nvSpPr>
        <p:spPr>
          <a:xfrm>
            <a:off x="4226560" y="5651500"/>
            <a:ext cx="23469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16A34A"/>
                </a:solidFill>
                <a:latin typeface="맑은 고딕" panose="020B0503020000020004" pitchFamily="34" charset="-127"/>
              </a:rPr>
              <a:t>연결 검증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1784957-E3C3-8B21-1130-DC7D867A15B8}"/>
              </a:ext>
            </a:extLst>
          </p:cNvPr>
          <p:cNvSpPr txBox="1"/>
          <p:nvPr/>
        </p:nvSpPr>
        <p:spPr>
          <a:xfrm>
            <a:off x="6624320" y="5638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C78B0AAC-2077-0998-68F0-98405A561670}"/>
              </a:ext>
            </a:extLst>
          </p:cNvPr>
          <p:cNvSpPr/>
          <p:nvPr/>
        </p:nvSpPr>
        <p:spPr>
          <a:xfrm>
            <a:off x="6852920" y="5435600"/>
            <a:ext cx="2550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37E7575-7BD8-6E95-DE1E-BE4A77E9034C}"/>
              </a:ext>
            </a:extLst>
          </p:cNvPr>
          <p:cNvSpPr txBox="1"/>
          <p:nvPr/>
        </p:nvSpPr>
        <p:spPr>
          <a:xfrm>
            <a:off x="6954520" y="5651500"/>
            <a:ext cx="23469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16A34A"/>
                </a:solidFill>
                <a:latin typeface="맑은 고딕" panose="020B0503020000020004" pitchFamily="34" charset="-127"/>
              </a:rPr>
              <a:t>실행 데이터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27E1C0-8851-2DF5-6382-31E34267723D}"/>
              </a:ext>
            </a:extLst>
          </p:cNvPr>
          <p:cNvSpPr txBox="1"/>
          <p:nvPr/>
        </p:nvSpPr>
        <p:spPr>
          <a:xfrm>
            <a:off x="9352280" y="5638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22AB07F-2662-1E32-B8EF-7C483900371C}"/>
              </a:ext>
            </a:extLst>
          </p:cNvPr>
          <p:cNvSpPr/>
          <p:nvPr/>
        </p:nvSpPr>
        <p:spPr>
          <a:xfrm>
            <a:off x="9580880" y="5435600"/>
            <a:ext cx="2550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A3BFCF-A204-6F2A-39D6-071390BDB78B}"/>
              </a:ext>
            </a:extLst>
          </p:cNvPr>
          <p:cNvSpPr txBox="1"/>
          <p:nvPr/>
        </p:nvSpPr>
        <p:spPr>
          <a:xfrm>
            <a:off x="9682480" y="5651500"/>
            <a:ext cx="23469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16A34A"/>
                </a:solidFill>
                <a:latin typeface="맑은 고딕" panose="020B0503020000020004" pitchFamily="34" charset="-127"/>
              </a:rPr>
              <a:t>현재 위치 저장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FBD1075-7F59-F8EA-FA6B-442FFD4A117A}"/>
              </a:ext>
            </a:extLst>
          </p:cNvPr>
          <p:cNvSpPr txBox="1"/>
          <p:nvPr/>
        </p:nvSpPr>
        <p:spPr>
          <a:xfrm>
            <a:off x="12080240" y="5638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63BDDAD-9AB3-C558-8567-B646184B99F8}"/>
              </a:ext>
            </a:extLst>
          </p:cNvPr>
          <p:cNvSpPr/>
          <p:nvPr/>
        </p:nvSpPr>
        <p:spPr>
          <a:xfrm>
            <a:off x="12308840" y="5435600"/>
            <a:ext cx="25501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3F411A-9471-1856-172C-55B8DE6D6F13}"/>
              </a:ext>
            </a:extLst>
          </p:cNvPr>
          <p:cNvSpPr txBox="1"/>
          <p:nvPr/>
        </p:nvSpPr>
        <p:spPr>
          <a:xfrm>
            <a:off x="12410440" y="5651500"/>
            <a:ext cx="23469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16A34A"/>
                </a:solidFill>
                <a:latin typeface="맑은 고딕" panose="020B0503020000020004" pitchFamily="34" charset="-127"/>
              </a:rPr>
              <a:t>지점 재시작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C0150992-B2C8-BD2E-3861-1793A83260C0}"/>
              </a:ext>
            </a:extLst>
          </p:cNvPr>
          <p:cNvSpPr/>
          <p:nvPr/>
        </p:nvSpPr>
        <p:spPr>
          <a:xfrm>
            <a:off x="1079500" y="6731000"/>
            <a:ext cx="4191000" cy="127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8397D450-4D1A-B32D-4368-4A79AC391728}"/>
              </a:ext>
            </a:extLst>
          </p:cNvPr>
          <p:cNvSpPr/>
          <p:nvPr/>
        </p:nvSpPr>
        <p:spPr>
          <a:xfrm>
            <a:off x="1079500" y="6731000"/>
            <a:ext cx="63500" cy="1270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FB6691-5DAC-1ED2-CE0D-D8C07EADBC73}"/>
              </a:ext>
            </a:extLst>
          </p:cNvPr>
          <p:cNvSpPr txBox="1"/>
          <p:nvPr/>
        </p:nvSpPr>
        <p:spPr>
          <a:xfrm>
            <a:off x="1333500" y="6959600"/>
            <a:ext cx="374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왜 분리했나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2408EC4-9175-5149-AF32-350790AE66A3}"/>
              </a:ext>
            </a:extLst>
          </p:cNvPr>
          <p:cNvSpPr txBox="1"/>
          <p:nvPr/>
        </p:nvSpPr>
        <p:spPr>
          <a:xfrm>
            <a:off x="1333500" y="7366000"/>
            <a:ext cx="374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제작자는 그래프와 에셋을 다루고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런타임은 검증된 실행 단위만 처리하게 하기 위해서입니다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0F9B0EA-AF49-22A1-D21E-35A4B5F2E2AC}"/>
              </a:ext>
            </a:extLst>
          </p:cNvPr>
          <p:cNvSpPr/>
          <p:nvPr/>
        </p:nvSpPr>
        <p:spPr>
          <a:xfrm>
            <a:off x="6032500" y="6731000"/>
            <a:ext cx="4191000" cy="127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81DD3F9-322C-4546-490E-DAB7A46FFCD4}"/>
              </a:ext>
            </a:extLst>
          </p:cNvPr>
          <p:cNvSpPr/>
          <p:nvPr/>
        </p:nvSpPr>
        <p:spPr>
          <a:xfrm>
            <a:off x="6032500" y="6731000"/>
            <a:ext cx="63500" cy="1270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2925AC-E681-E04B-464F-80B33D8A996B}"/>
              </a:ext>
            </a:extLst>
          </p:cNvPr>
          <p:cNvSpPr txBox="1"/>
          <p:nvPr/>
        </p:nvSpPr>
        <p:spPr>
          <a:xfrm>
            <a:off x="6286500" y="6959600"/>
            <a:ext cx="374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A34A"/>
                </a:solidFill>
                <a:latin typeface="맑은 고딕" panose="020B0503020000020004" pitchFamily="34" charset="-127"/>
              </a:rPr>
              <a:t>이점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EC9A818-29D8-3C69-724E-9B12FF7CD0B3}"/>
              </a:ext>
            </a:extLst>
          </p:cNvPr>
          <p:cNvSpPr txBox="1"/>
          <p:nvPr/>
        </p:nvSpPr>
        <p:spPr>
          <a:xfrm>
            <a:off x="6286500" y="7366000"/>
            <a:ext cx="374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오류를 실행 전에 찾고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특정 진행 지점부터 재현하는 테스트 흐름을 만들 수 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472388F5-0C3F-26A9-96D0-8B762AE7870F}"/>
              </a:ext>
            </a:extLst>
          </p:cNvPr>
          <p:cNvSpPr/>
          <p:nvPr/>
        </p:nvSpPr>
        <p:spPr>
          <a:xfrm>
            <a:off x="10985500" y="6731000"/>
            <a:ext cx="4191000" cy="127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1E378B7-8707-40F4-BDF5-514FF3A1EA1E}"/>
              </a:ext>
            </a:extLst>
          </p:cNvPr>
          <p:cNvSpPr/>
          <p:nvPr/>
        </p:nvSpPr>
        <p:spPr>
          <a:xfrm>
            <a:off x="10985500" y="6731000"/>
            <a:ext cx="63500" cy="1270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D3B38E0-C6B5-2881-89F3-42B8D88753C5}"/>
              </a:ext>
            </a:extLst>
          </p:cNvPr>
          <p:cNvSpPr txBox="1"/>
          <p:nvPr/>
        </p:nvSpPr>
        <p:spPr>
          <a:xfrm>
            <a:off x="11239500" y="6959600"/>
            <a:ext cx="3746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34" charset="-127"/>
              </a:rPr>
              <a:t>포트폴리오 메시지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5CE5F7-66E3-7E05-F3A0-7FDA4CAF82FE}"/>
              </a:ext>
            </a:extLst>
          </p:cNvPr>
          <p:cNvSpPr txBox="1"/>
          <p:nvPr/>
        </p:nvSpPr>
        <p:spPr>
          <a:xfrm>
            <a:off x="11239500" y="7366000"/>
            <a:ext cx="3746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콘텐츠 서술보다 “진행을 도구화한 클라이언트 시스템”으로 설명합니다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27694E-58DA-7878-3F93-11DB2EDCAF93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04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7C85AF1-5481-01A7-33C1-24F827A45DB1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92A78A-A010-E1C5-D19B-5FE2AD6330CA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05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EA1098-958A-571E-EDE5-840F7514EF27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650F94C-C0D3-0F9C-938E-8B4E061CDD53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04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AAC544E-9002-745D-991F-D83F15E4C527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1A308E9-F8E2-2A0C-D72A-58AF97D12047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04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29574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D15DA6-C7F5-3FA7-395B-204AE8A6747D}"/>
              </a:ext>
            </a:extLst>
          </p:cNvPr>
          <p:cNvSpPr txBox="1"/>
          <p:nvPr/>
        </p:nvSpPr>
        <p:spPr>
          <a:xfrm>
            <a:off x="736600" y="482600"/>
            <a:ext cx="3302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850">
                <a:solidFill>
                  <a:srgbClr val="FF5B18"/>
                </a:solidFill>
                <a:latin typeface="맑은 고딕" panose="020B0503020000020004" pitchFamily="34" charset="-127"/>
              </a:rPr>
              <a:t>CORE CODE</a:t>
            </a:r>
            <a:endParaRPr lang="ko-KR" altLang="en-US" sz="850">
              <a:solidFill>
                <a:srgbClr val="FF5B18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01D37F-29A5-E44A-E996-149E8C91D98D}"/>
              </a:ext>
            </a:extLst>
          </p:cNvPr>
          <p:cNvSpPr txBox="1"/>
          <p:nvPr/>
        </p:nvSpPr>
        <p:spPr>
          <a:xfrm>
            <a:off x="736600" y="914400"/>
            <a:ext cx="11430000" cy="32573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1950" b="1">
                <a:solidFill>
                  <a:srgbClr val="121B2C"/>
                </a:solidFill>
                <a:latin typeface="맑은 고딕" panose="020B0503020000020004" pitchFamily="34" charset="-127"/>
              </a:rPr>
              <a:t>핵심 코드</a:t>
            </a:r>
            <a:r>
              <a:rPr lang="en-US" altLang="ko-KR" sz="1950" b="1">
                <a:solidFill>
                  <a:srgbClr val="121B2C"/>
                </a:solidFill>
                <a:latin typeface="맑은 고딕" panose="020B0503020000020004" pitchFamily="34" charset="-127"/>
              </a:rPr>
              <a:t>: StoryFlow </a:t>
            </a:r>
            <a:r>
              <a:rPr lang="ko-KR" altLang="en-US" sz="1950" b="1">
                <a:solidFill>
                  <a:srgbClr val="121B2C"/>
                </a:solidFill>
                <a:latin typeface="맑은 고딕" panose="020B0503020000020004" pitchFamily="34" charset="-127"/>
              </a:rPr>
              <a:t>런타임 라우터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0EEAC8-514D-5509-1014-C26B6109145D}"/>
              </a:ext>
            </a:extLst>
          </p:cNvPr>
          <p:cNvSpPr txBox="1"/>
          <p:nvPr/>
        </p:nvSpPr>
        <p:spPr>
          <a:xfrm>
            <a:off x="749300" y="1536700"/>
            <a:ext cx="12954000" cy="187231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1050">
                <a:solidFill>
                  <a:srgbClr val="4A566A"/>
                </a:solidFill>
                <a:latin typeface="맑은 고딕" panose="020B0503020000020004" pitchFamily="34" charset="-127"/>
              </a:rPr>
              <a:t>EntryLink</a:t>
            </a:r>
            <a:r>
              <a:rPr lang="ko-KR" altLang="en-US" sz="1050">
                <a:solidFill>
                  <a:srgbClr val="4A566A"/>
                </a:solidFill>
                <a:latin typeface="맑은 고딕" panose="020B0503020000020004" pitchFamily="34" charset="-127"/>
              </a:rPr>
              <a:t>를 기준으로 시작 지점을 정리하고</a:t>
            </a:r>
            <a:r>
              <a:rPr lang="en-US" altLang="ko-KR" sz="105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050">
                <a:solidFill>
                  <a:srgbClr val="4A566A"/>
                </a:solidFill>
                <a:latin typeface="맑은 고딕" panose="020B0503020000020004" pitchFamily="34" charset="-127"/>
              </a:rPr>
              <a:t>링크 타입에 따라 </a:t>
            </a:r>
            <a:r>
              <a:rPr lang="en-US" altLang="ko-KR" sz="1050">
                <a:solidFill>
                  <a:srgbClr val="4A566A"/>
                </a:solidFill>
                <a:latin typeface="맑은 고딕" panose="020B0503020000020004" pitchFamily="34" charset="-127"/>
              </a:rPr>
              <a:t>Shot / Branch / Scene </a:t>
            </a:r>
            <a:r>
              <a:rPr lang="ko-KR" altLang="en-US" sz="1050">
                <a:solidFill>
                  <a:srgbClr val="4A566A"/>
                </a:solidFill>
                <a:latin typeface="맑은 고딕" panose="020B0503020000020004" pitchFamily="34" charset="-127"/>
              </a:rPr>
              <a:t>전이를 하나의 라우터에서 처리합니다</a:t>
            </a:r>
            <a:r>
              <a:rPr lang="en-US" altLang="ko-KR" sz="10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0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E62B489-2588-D0DC-ABA9-0EECD21794B3}"/>
              </a:ext>
            </a:extLst>
          </p:cNvPr>
          <p:cNvSpPr/>
          <p:nvPr/>
        </p:nvSpPr>
        <p:spPr>
          <a:xfrm>
            <a:off x="736600" y="1955800"/>
            <a:ext cx="14782800" cy="12700"/>
          </a:xfrm>
          <a:prstGeom prst="rect">
            <a:avLst/>
          </a:prstGeom>
          <a:solidFill>
            <a:srgbClr val="DEE4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AC43962-EDDF-A429-0BFC-8C4019215A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35200"/>
            <a:ext cx="14427200" cy="5334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B6BFB2-84C6-A6A3-79BB-92A930A36F7D}"/>
              </a:ext>
            </a:extLst>
          </p:cNvPr>
          <p:cNvSpPr txBox="1"/>
          <p:nvPr/>
        </p:nvSpPr>
        <p:spPr>
          <a:xfrm>
            <a:off x="1066800" y="7797800"/>
            <a:ext cx="11938000" cy="14106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750" b="1">
                <a:solidFill>
                  <a:srgbClr val="121B2C"/>
                </a:solidFill>
                <a:latin typeface="Consolas" panose="020B0609020204030204" pitchFamily="49" charset="0"/>
              </a:rPr>
              <a:t>코드 흐름</a:t>
            </a:r>
            <a:r>
              <a:rPr lang="en-US" altLang="ko-KR" sz="750" b="1">
                <a:solidFill>
                  <a:srgbClr val="121B2C"/>
                </a:solidFill>
                <a:latin typeface="Consolas" panose="020B0609020204030204" pitchFamily="49" charset="0"/>
              </a:rPr>
              <a:t>: StartResolvedScene → EntryLink → MoveToLink → MoveToShot / EvaluateBranch / StartFromScene</a:t>
            </a:r>
            <a:endParaRPr lang="ko-KR" altLang="en-US" sz="750" b="1">
              <a:solidFill>
                <a:srgbClr val="121B2C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36544-2F67-9933-13FA-8A7FA51157D0}"/>
              </a:ext>
            </a:extLst>
          </p:cNvPr>
          <p:cNvSpPr txBox="1"/>
          <p:nvPr/>
        </p:nvSpPr>
        <p:spPr>
          <a:xfrm>
            <a:off x="1066800" y="8077200"/>
            <a:ext cx="5334000" cy="14106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750">
                <a:solidFill>
                  <a:srgbClr val="707C91"/>
                </a:solidFill>
                <a:latin typeface="Consolas" panose="020B0609020204030204" pitchFamily="49" charset="0"/>
              </a:rPr>
              <a:t>StoryFlowSubsystem.cpp 443-476, 723-807</a:t>
            </a:r>
            <a:endParaRPr lang="ko-KR" altLang="en-US" sz="750">
              <a:solidFill>
                <a:srgbClr val="707C9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FE9E076-7AD3-7954-C546-25DB73660D69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8F42B9-6BF4-125E-B06F-E3C75E341AF5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05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ABEAD0E-6001-8929-5BB0-17C02F4181AA}"/>
              </a:ext>
            </a:extLst>
          </p:cNvPr>
          <p:cNvSpPr/>
          <p:nvPr/>
        </p:nvSpPr>
        <p:spPr>
          <a:xfrm>
            <a:off x="787400" y="2133600"/>
            <a:ext cx="14732000" cy="56134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B9D0215-8750-1298-C412-43563820BE1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2235200"/>
            <a:ext cx="14427200" cy="53340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E86314FC-DE39-33D9-BC60-678137476A21}"/>
              </a:ext>
            </a:extLst>
          </p:cNvPr>
          <p:cNvSpPr/>
          <p:nvPr/>
        </p:nvSpPr>
        <p:spPr>
          <a:xfrm>
            <a:off x="889000" y="7670800"/>
            <a:ext cx="12446000" cy="6096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5395F9-2079-0664-877E-20AAA4DDBEC5}"/>
              </a:ext>
            </a:extLst>
          </p:cNvPr>
          <p:cNvSpPr txBox="1"/>
          <p:nvPr/>
        </p:nvSpPr>
        <p:spPr>
          <a:xfrm>
            <a:off x="1066800" y="7797800"/>
            <a:ext cx="11938000" cy="14106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750" b="1">
                <a:solidFill>
                  <a:srgbClr val="121B2C"/>
                </a:solidFill>
                <a:latin typeface="Consolas" panose="020B0609020204030204" pitchFamily="49" charset="0"/>
              </a:rPr>
              <a:t>코드 흐름</a:t>
            </a:r>
            <a:r>
              <a:rPr lang="en-US" altLang="ko-KR" sz="750" b="1">
                <a:solidFill>
                  <a:srgbClr val="121B2C"/>
                </a:solidFill>
                <a:latin typeface="Consolas" panose="020B0609020204030204" pitchFamily="49" charset="0"/>
              </a:rPr>
              <a:t>: StartResolvedScene → EntryLink → MoveToLink → MoveToShot / EvaluateBranch / StartFromScene</a:t>
            </a:r>
            <a:endParaRPr lang="ko-KR" altLang="en-US" sz="750" b="1">
              <a:solidFill>
                <a:srgbClr val="121B2C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8B914F-E2B1-C76B-8CDF-A43CCD8EC37B}"/>
              </a:ext>
            </a:extLst>
          </p:cNvPr>
          <p:cNvSpPr txBox="1"/>
          <p:nvPr/>
        </p:nvSpPr>
        <p:spPr>
          <a:xfrm>
            <a:off x="1066800" y="8077200"/>
            <a:ext cx="5334000" cy="14106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750">
                <a:solidFill>
                  <a:srgbClr val="707C91"/>
                </a:solidFill>
                <a:latin typeface="Consolas" panose="020B0609020204030204" pitchFamily="49" charset="0"/>
              </a:rPr>
              <a:t>StoryFlowSubsystem.cpp 443-476, 723-807</a:t>
            </a:r>
            <a:endParaRPr lang="ko-KR" altLang="en-US" sz="750">
              <a:solidFill>
                <a:srgbClr val="707C91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2B3F4D-1727-692D-567E-8D90E1B11CFC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F6F9D2-7288-DAFA-F54A-AA6A34F137AC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05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7FA9DCB-E5E2-243C-E73F-1F9015C10A92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73B97C-E21B-E389-82F3-4091DF69ABB3}"/>
              </a:ext>
            </a:extLst>
          </p:cNvPr>
          <p:cNvSpPr txBox="1"/>
          <p:nvPr/>
        </p:nvSpPr>
        <p:spPr>
          <a:xfrm>
            <a:off x="15240000" y="8432800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rgbClr val="94A3B8"/>
                </a:solidFill>
                <a:latin typeface="맑은 고딕" panose="020B0503020000020004" pitchFamily="34" charset="-127"/>
              </a:rPr>
              <a:t>05</a:t>
            </a:r>
            <a:endParaRPr lang="ko-KR" altLang="en-US" sz="700">
              <a:solidFill>
                <a:srgbClr val="94A3B8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91652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0F1D2B-2453-BCB8-BBF5-8DBAD2852F64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INTERACTION SYSTEM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AD9C71-E88F-128F-C82B-3B4674CB66EF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상호작용을 </a:t>
            </a:r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Actor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별 구현이 아닌 공통 시스템으로 분리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65C5A3-DB03-4611-8387-B31F47BE198B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감지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선택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피드백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실행 호출을 컴포넌트와 인터페이스 경계로 묶었습니다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211F39F-BFCF-1CC3-BCFE-A882A61D46FF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66B41DE4-BA16-681D-71FA-81EFB57D6517}"/>
              </a:ext>
            </a:extLst>
          </p:cNvPr>
          <p:cNvSpPr/>
          <p:nvPr/>
        </p:nvSpPr>
        <p:spPr>
          <a:xfrm>
            <a:off x="1117600" y="2565400"/>
            <a:ext cx="2661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8137F2-04F9-B258-B634-7CC2D24F0A43}"/>
              </a:ext>
            </a:extLst>
          </p:cNvPr>
          <p:cNvSpPr txBox="1"/>
          <p:nvPr/>
        </p:nvSpPr>
        <p:spPr>
          <a:xfrm>
            <a:off x="1219200" y="2781300"/>
            <a:ext cx="245872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Overlap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후보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5463D3-AA81-3011-212A-DA80BE2351EB}"/>
              </a:ext>
            </a:extLst>
          </p:cNvPr>
          <p:cNvSpPr txBox="1"/>
          <p:nvPr/>
        </p:nvSpPr>
        <p:spPr>
          <a:xfrm>
            <a:off x="3728720" y="27686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1A1AF1E-1226-AF91-D680-0B84AEA03C68}"/>
              </a:ext>
            </a:extLst>
          </p:cNvPr>
          <p:cNvSpPr/>
          <p:nvPr/>
        </p:nvSpPr>
        <p:spPr>
          <a:xfrm>
            <a:off x="3957320" y="2565400"/>
            <a:ext cx="2661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BBF07C-CCEC-D900-B1BF-F7B019B64A46}"/>
              </a:ext>
            </a:extLst>
          </p:cNvPr>
          <p:cNvSpPr txBox="1"/>
          <p:nvPr/>
        </p:nvSpPr>
        <p:spPr>
          <a:xfrm>
            <a:off x="4058920" y="2781300"/>
            <a:ext cx="245872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거리 </a:t>
            </a:r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/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시야 판정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443961-4265-6259-1C5D-67D1427938F9}"/>
              </a:ext>
            </a:extLst>
          </p:cNvPr>
          <p:cNvSpPr txBox="1"/>
          <p:nvPr/>
        </p:nvSpPr>
        <p:spPr>
          <a:xfrm>
            <a:off x="6568440" y="27686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0C051E0-C9F5-AD1C-BE60-92FF92B6BB41}"/>
              </a:ext>
            </a:extLst>
          </p:cNvPr>
          <p:cNvSpPr/>
          <p:nvPr/>
        </p:nvSpPr>
        <p:spPr>
          <a:xfrm>
            <a:off x="6797040" y="2565400"/>
            <a:ext cx="2661921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BD1879-FEA3-D8BF-2056-4234A5F8EB39}"/>
              </a:ext>
            </a:extLst>
          </p:cNvPr>
          <p:cNvSpPr txBox="1"/>
          <p:nvPr/>
        </p:nvSpPr>
        <p:spPr>
          <a:xfrm>
            <a:off x="6898640" y="2781300"/>
            <a:ext cx="245872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Target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선택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2DB21DF-29AA-7972-1663-045665191A63}"/>
              </a:ext>
            </a:extLst>
          </p:cNvPr>
          <p:cNvSpPr txBox="1"/>
          <p:nvPr/>
        </p:nvSpPr>
        <p:spPr>
          <a:xfrm>
            <a:off x="9408160" y="27686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0852EA-E523-6822-4F8F-97897430E1C4}"/>
              </a:ext>
            </a:extLst>
          </p:cNvPr>
          <p:cNvSpPr/>
          <p:nvPr/>
        </p:nvSpPr>
        <p:spPr>
          <a:xfrm>
            <a:off x="9636760" y="2565400"/>
            <a:ext cx="2661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6321624-6D60-94C2-EEC8-554736905382}"/>
              </a:ext>
            </a:extLst>
          </p:cNvPr>
          <p:cNvSpPr txBox="1"/>
          <p:nvPr/>
        </p:nvSpPr>
        <p:spPr>
          <a:xfrm>
            <a:off x="9738360" y="2781300"/>
            <a:ext cx="245872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Indicator / Overlay</a:t>
            </a:r>
            <a:endParaRPr lang="ko-KR" altLang="en-US" sz="1200" b="1">
              <a:solidFill>
                <a:srgbClr val="2563EB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D3D4B5-2D44-15CE-6BD2-86C8D63AB256}"/>
              </a:ext>
            </a:extLst>
          </p:cNvPr>
          <p:cNvSpPr txBox="1"/>
          <p:nvPr/>
        </p:nvSpPr>
        <p:spPr>
          <a:xfrm>
            <a:off x="12247880" y="27686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494499F-02D1-DAB0-9BC5-6320D20DB1DC}"/>
              </a:ext>
            </a:extLst>
          </p:cNvPr>
          <p:cNvSpPr/>
          <p:nvPr/>
        </p:nvSpPr>
        <p:spPr>
          <a:xfrm>
            <a:off x="12476480" y="2565400"/>
            <a:ext cx="266192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8A27BA-1974-EA3F-497D-884BE1DC30CB}"/>
              </a:ext>
            </a:extLst>
          </p:cNvPr>
          <p:cNvSpPr txBox="1"/>
          <p:nvPr/>
        </p:nvSpPr>
        <p:spPr>
          <a:xfrm>
            <a:off x="12578080" y="2781300"/>
            <a:ext cx="245872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Interact </a:t>
            </a:r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호출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EFBDB64-56D9-268D-5B21-259A78DD151F}"/>
              </a:ext>
            </a:extLst>
          </p:cNvPr>
          <p:cNvSpPr/>
          <p:nvPr/>
        </p:nvSpPr>
        <p:spPr>
          <a:xfrm>
            <a:off x="736600" y="4191000"/>
            <a:ext cx="4572000" cy="203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8EC3950-CEDB-71DE-C261-3C91B928EBA7}"/>
              </a:ext>
            </a:extLst>
          </p:cNvPr>
          <p:cNvSpPr/>
          <p:nvPr/>
        </p:nvSpPr>
        <p:spPr>
          <a:xfrm>
            <a:off x="736600" y="4191000"/>
            <a:ext cx="63500" cy="2032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34F0CA8-F76A-638B-C742-B07F2DB10E70}"/>
              </a:ext>
            </a:extLst>
          </p:cNvPr>
          <p:cNvSpPr txBox="1"/>
          <p:nvPr/>
        </p:nvSpPr>
        <p:spPr>
          <a:xfrm>
            <a:off x="990600" y="44196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AEEFBA-BED8-4A1E-658F-E25CC5A03A7D}"/>
              </a:ext>
            </a:extLst>
          </p:cNvPr>
          <p:cNvSpPr txBox="1"/>
          <p:nvPr/>
        </p:nvSpPr>
        <p:spPr>
          <a:xfrm>
            <a:off x="990600" y="4826000"/>
            <a:ext cx="4127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상호작용 대상이 늘어날수록 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Actor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마다 감지와 표시 로직을 반복 작성하는 문제가 생깁니다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6153BA19-B67C-E2DC-114C-61EF683EDB94}"/>
              </a:ext>
            </a:extLst>
          </p:cNvPr>
          <p:cNvSpPr/>
          <p:nvPr/>
        </p:nvSpPr>
        <p:spPr>
          <a:xfrm>
            <a:off x="5842000" y="4191000"/>
            <a:ext cx="4572000" cy="203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A0F1475-59BE-42E6-D92A-581D4F11FB89}"/>
              </a:ext>
            </a:extLst>
          </p:cNvPr>
          <p:cNvSpPr/>
          <p:nvPr/>
        </p:nvSpPr>
        <p:spPr>
          <a:xfrm>
            <a:off x="5842000" y="4191000"/>
            <a:ext cx="63500" cy="2032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1098F77-1EE7-0673-55DE-071287F576F0}"/>
              </a:ext>
            </a:extLst>
          </p:cNvPr>
          <p:cNvSpPr txBox="1"/>
          <p:nvPr/>
        </p:nvSpPr>
        <p:spPr>
          <a:xfrm>
            <a:off x="6096000" y="44196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34" charset="-127"/>
              </a:rPr>
              <a:t>어떻게 구현했나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DA4618C-68E6-B2CE-8A1B-3806A67A7E05}"/>
              </a:ext>
            </a:extLst>
          </p:cNvPr>
          <p:cNvSpPr txBox="1"/>
          <p:nvPr/>
        </p:nvSpPr>
        <p:spPr>
          <a:xfrm>
            <a:off x="6096000" y="4826000"/>
            <a:ext cx="4127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상호작용 주체는 공통 감지 컴포넌트를 갖고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대상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Actor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는 약속된 인터페이스만 구현하도록 분리했습니다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3513A4E-9C9F-2586-602F-FBFBD6D28BF9}"/>
              </a:ext>
            </a:extLst>
          </p:cNvPr>
          <p:cNvSpPr/>
          <p:nvPr/>
        </p:nvSpPr>
        <p:spPr>
          <a:xfrm>
            <a:off x="10947400" y="4191000"/>
            <a:ext cx="4572000" cy="203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F613F57-C5CE-A7B0-1D92-AE4DC67BF603}"/>
              </a:ext>
            </a:extLst>
          </p:cNvPr>
          <p:cNvSpPr/>
          <p:nvPr/>
        </p:nvSpPr>
        <p:spPr>
          <a:xfrm>
            <a:off x="10947400" y="4191000"/>
            <a:ext cx="63500" cy="2032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6A2884-D1A3-796C-76CA-578F885E06D3}"/>
              </a:ext>
            </a:extLst>
          </p:cNvPr>
          <p:cNvSpPr txBox="1"/>
          <p:nvPr/>
        </p:nvSpPr>
        <p:spPr>
          <a:xfrm>
            <a:off x="11201400" y="44196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A34A"/>
                </a:solidFill>
                <a:latin typeface="맑은 고딕" panose="020B0503020000020004" pitchFamily="34" charset="-127"/>
              </a:rPr>
              <a:t>얻는 이점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E37389-8907-47F9-68D9-0A0164452674}"/>
              </a:ext>
            </a:extLst>
          </p:cNvPr>
          <p:cNvSpPr txBox="1"/>
          <p:nvPr/>
        </p:nvSpPr>
        <p:spPr>
          <a:xfrm>
            <a:off x="11201400" y="4826000"/>
            <a:ext cx="41275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컴퓨터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조사 오브젝트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아이템 등 서로 다른 대상도 같은 감지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선택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피드백 규칙으로 확장할 수 있습니다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E5A9EB-5D64-0485-4DEF-B0916C019D61}"/>
              </a:ext>
            </a:extLst>
          </p:cNvPr>
          <p:cNvSpPr txBox="1"/>
          <p:nvPr/>
        </p:nvSpPr>
        <p:spPr>
          <a:xfrm>
            <a:off x="2032000" y="7112000"/>
            <a:ext cx="1219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b="1">
                <a:solidFill>
                  <a:srgbClr val="0F172A"/>
                </a:solidFill>
                <a:latin typeface="맑은 고딕" panose="020B0503020000020004" pitchFamily="34" charset="-127"/>
              </a:rPr>
              <a:t>카메라 중심 감지와 커서 기반 감지를 분리해</a:t>
            </a:r>
            <a:r>
              <a:rPr lang="en-US" altLang="ko-KR" b="1">
                <a:solidFill>
                  <a:srgbClr val="0F172A"/>
                </a:solidFill>
                <a:latin typeface="맑은 고딕" panose="020B0503020000020004" pitchFamily="34" charset="-127"/>
              </a:rPr>
              <a:t>, 1</a:t>
            </a:r>
            <a:r>
              <a:rPr lang="ko-KR" altLang="en-US" b="1">
                <a:solidFill>
                  <a:srgbClr val="0F172A"/>
                </a:solidFill>
                <a:latin typeface="맑은 고딕" panose="020B0503020000020004" pitchFamily="34" charset="-127"/>
              </a:rPr>
              <a:t>인칭 탐색과 모니터 조작 상황을 모두 수용합니다</a:t>
            </a:r>
            <a:r>
              <a:rPr lang="en-US" altLang="ko-KR" b="1">
                <a:solidFill>
                  <a:srgbClr val="0F172A"/>
                </a:solidFill>
                <a:latin typeface="맑은 고딕" panose="020B0503020000020004" pitchFamily="34" charset="-127"/>
              </a:rPr>
              <a:t>.</a:t>
            </a:r>
            <a:endParaRPr lang="ko-KR" altLang="en-US" b="1">
              <a:solidFill>
                <a:srgbClr val="0F172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204F7D-3209-4939-A703-C5DAAD6B2D9C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05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AC49EEF-06FC-1C20-73ED-59DDEACC5CAE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37632A-2E14-72D9-B713-2F94999E0476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07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2A58D77F-1BA0-9582-55FB-91CF6B54A3E8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9E0B4E-FFB9-0AC7-A163-C1F54D50AFBA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06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0E55002-01FE-6A8F-CE36-0E1D787B3185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000F23-AFE3-541B-BB3C-992E44F3431E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06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5021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2606CB-95A5-264C-DC82-5E7784F39E12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DIEGETIC MONITOR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A7400E-B97E-EBF0-E86C-CD9751F5876F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월드 안 컴퓨터를 조작하는 디제틱 </a:t>
            </a:r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UX</a:t>
            </a:r>
            <a:endParaRPr lang="ko-KR" altLang="en-US" sz="2700" b="1">
              <a:solidFill>
                <a:srgbClr val="0F172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301BF0-F74A-8982-46B6-12169A92E36C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메뉴를 따로 띄우는 대신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월드 오브젝트와 플레이어 이동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모니터 화면을 하나의 흐름으로 연결했습니다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AE0D173-4978-6C2A-9A31-3597AE5178F6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155893CC-A77E-F16A-DAB9-3E5BBA5A6B85}"/>
              </a:ext>
            </a:extLst>
          </p:cNvPr>
          <p:cNvSpPr/>
          <p:nvPr/>
        </p:nvSpPr>
        <p:spPr>
          <a:xfrm>
            <a:off x="990600" y="2413000"/>
            <a:ext cx="5016500" cy="323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8" name="그림 47">
            <a:extLst>
              <a:ext uri="{FF2B5EF4-FFF2-40B4-BE49-F238E27FC236}">
                <a16:creationId xmlns:a16="http://schemas.microsoft.com/office/drawing/2014/main" id="{0AB2E2A3-C37C-1400-025F-5D33EEB780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00" y="2856445"/>
            <a:ext cx="3076034" cy="1983309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D2C09160-658A-C245-8DB9-880BD0FFAF4B}"/>
              </a:ext>
            </a:extLst>
          </p:cNvPr>
          <p:cNvSpPr txBox="1"/>
          <p:nvPr/>
        </p:nvSpPr>
        <p:spPr>
          <a:xfrm>
            <a:off x="1143000" y="5295900"/>
            <a:ext cx="4711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컴퓨터 </a:t>
            </a:r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Actor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캡처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8AFB52-7BCB-D7CC-73D7-BCEFAFB5B9C3}"/>
              </a:ext>
            </a:extLst>
          </p:cNvPr>
          <p:cNvSpPr txBox="1"/>
          <p:nvPr/>
        </p:nvSpPr>
        <p:spPr>
          <a:xfrm>
            <a:off x="6794500" y="2438400"/>
            <a:ext cx="2540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0891B2"/>
                </a:solidFill>
                <a:latin typeface="맑은 고딕" panose="020B0503020000020004" pitchFamily="34" charset="-127"/>
              </a:rPr>
              <a:t>진입 흐름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9F72C91-02FB-44E9-4198-8026E7F2B1C8}"/>
              </a:ext>
            </a:extLst>
          </p:cNvPr>
          <p:cNvSpPr/>
          <p:nvPr/>
        </p:nvSpPr>
        <p:spPr>
          <a:xfrm>
            <a:off x="6794500" y="2857500"/>
            <a:ext cx="1422400" cy="482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06D0B24-81D2-CFCB-466C-1BEE5CD0CC1C}"/>
              </a:ext>
            </a:extLst>
          </p:cNvPr>
          <p:cNvSpPr txBox="1"/>
          <p:nvPr/>
        </p:nvSpPr>
        <p:spPr>
          <a:xfrm>
            <a:off x="6921500" y="29845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감지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C75E029-F9FB-FC37-42BF-BC58B22DE8DA}"/>
              </a:ext>
            </a:extLst>
          </p:cNvPr>
          <p:cNvSpPr txBox="1"/>
          <p:nvPr/>
        </p:nvSpPr>
        <p:spPr>
          <a:xfrm>
            <a:off x="8229600" y="2984500"/>
            <a:ext cx="17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A96EDAEB-B6DB-22D5-4D6A-CC5AAD8AA5B2}"/>
              </a:ext>
            </a:extLst>
          </p:cNvPr>
          <p:cNvSpPr/>
          <p:nvPr/>
        </p:nvSpPr>
        <p:spPr>
          <a:xfrm>
            <a:off x="8394700" y="2857500"/>
            <a:ext cx="1422400" cy="482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25CFE5B-A298-85ED-82EB-78C30A95D6E7}"/>
              </a:ext>
            </a:extLst>
          </p:cNvPr>
          <p:cNvSpPr txBox="1"/>
          <p:nvPr/>
        </p:nvSpPr>
        <p:spPr>
          <a:xfrm>
            <a:off x="8521700" y="29845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Interact</a:t>
            </a:r>
            <a:endParaRPr lang="ko-KR" altLang="en-US" sz="11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33BCC55-E7E3-2621-642D-761ACCF84478}"/>
              </a:ext>
            </a:extLst>
          </p:cNvPr>
          <p:cNvSpPr txBox="1"/>
          <p:nvPr/>
        </p:nvSpPr>
        <p:spPr>
          <a:xfrm>
            <a:off x="9829800" y="2984500"/>
            <a:ext cx="17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C81FEF8-2EFD-4E14-5772-5306676F1C16}"/>
              </a:ext>
            </a:extLst>
          </p:cNvPr>
          <p:cNvSpPr/>
          <p:nvPr/>
        </p:nvSpPr>
        <p:spPr>
          <a:xfrm>
            <a:off x="9994900" y="2857500"/>
            <a:ext cx="1422400" cy="482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EF8277-98AF-B9C4-CE2F-15816DF5C765}"/>
              </a:ext>
            </a:extLst>
          </p:cNvPr>
          <p:cNvSpPr txBox="1"/>
          <p:nvPr/>
        </p:nvSpPr>
        <p:spPr>
          <a:xfrm>
            <a:off x="10121900" y="29845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MovePoint</a:t>
            </a:r>
            <a:endParaRPr lang="ko-KR" altLang="en-US" sz="11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B07D63C-E1D8-BEF8-F5A5-835018D4B005}"/>
              </a:ext>
            </a:extLst>
          </p:cNvPr>
          <p:cNvSpPr txBox="1"/>
          <p:nvPr/>
        </p:nvSpPr>
        <p:spPr>
          <a:xfrm>
            <a:off x="11430000" y="2984500"/>
            <a:ext cx="17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0A621D51-D104-BCD6-ED60-C4DA47AFBD0C}"/>
              </a:ext>
            </a:extLst>
          </p:cNvPr>
          <p:cNvSpPr/>
          <p:nvPr/>
        </p:nvSpPr>
        <p:spPr>
          <a:xfrm>
            <a:off x="11595100" y="2857500"/>
            <a:ext cx="1422400" cy="482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7A020F0-9B45-15C4-01F2-8440D01B5A28}"/>
              </a:ext>
            </a:extLst>
          </p:cNvPr>
          <p:cNvSpPr txBox="1"/>
          <p:nvPr/>
        </p:nvSpPr>
        <p:spPr>
          <a:xfrm>
            <a:off x="11722100" y="29845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전원 </a:t>
            </a:r>
            <a:r>
              <a:rPr lang="en-US" altLang="ko-KR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On</a:t>
            </a:r>
            <a:endParaRPr lang="ko-KR" altLang="en-US" sz="11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91730F5-A332-1C35-1A43-80C11395AB39}"/>
              </a:ext>
            </a:extLst>
          </p:cNvPr>
          <p:cNvSpPr txBox="1"/>
          <p:nvPr/>
        </p:nvSpPr>
        <p:spPr>
          <a:xfrm>
            <a:off x="13030200" y="2984500"/>
            <a:ext cx="1778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D50CA1B7-E299-ADE4-1066-15645BD6E0F9}"/>
              </a:ext>
            </a:extLst>
          </p:cNvPr>
          <p:cNvSpPr/>
          <p:nvPr/>
        </p:nvSpPr>
        <p:spPr>
          <a:xfrm>
            <a:off x="13195300" y="2857500"/>
            <a:ext cx="1422400" cy="482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99CA56A-733F-8D0B-638F-30511A4BCCE0}"/>
              </a:ext>
            </a:extLst>
          </p:cNvPr>
          <p:cNvSpPr txBox="1"/>
          <p:nvPr/>
        </p:nvSpPr>
        <p:spPr>
          <a:xfrm>
            <a:off x="13322300" y="2984500"/>
            <a:ext cx="1168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UI </a:t>
            </a:r>
            <a:r>
              <a:rPr lang="ko-KR" altLang="en-US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진입</a:t>
            </a: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AE9FA7-0381-469C-4BF0-945795DFD31F}"/>
              </a:ext>
            </a:extLst>
          </p:cNvPr>
          <p:cNvSpPr/>
          <p:nvPr/>
        </p:nvSpPr>
        <p:spPr>
          <a:xfrm>
            <a:off x="6794500" y="4000500"/>
            <a:ext cx="3619500" cy="1498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FF0950FA-4BEA-F70E-DA4C-FCBB6B11AF38}"/>
              </a:ext>
            </a:extLst>
          </p:cNvPr>
          <p:cNvSpPr/>
          <p:nvPr/>
        </p:nvSpPr>
        <p:spPr>
          <a:xfrm>
            <a:off x="6794500" y="4000500"/>
            <a:ext cx="63500" cy="1498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9155681-532F-6BC4-792B-DB32462C247E}"/>
              </a:ext>
            </a:extLst>
          </p:cNvPr>
          <p:cNvSpPr txBox="1"/>
          <p:nvPr/>
        </p:nvSpPr>
        <p:spPr>
          <a:xfrm>
            <a:off x="6997700" y="4178300"/>
            <a:ext cx="3263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Computer Actor</a:t>
            </a:r>
            <a:endParaRPr lang="ko-KR" altLang="en-US" sz="1300" b="1">
              <a:solidFill>
                <a:srgbClr val="2563EB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5F63F80-2C4A-5B00-F235-5B648E134BF1}"/>
              </a:ext>
            </a:extLst>
          </p:cNvPr>
          <p:cNvSpPr txBox="1"/>
          <p:nvPr/>
        </p:nvSpPr>
        <p:spPr>
          <a:xfrm>
            <a:off x="6997700" y="4508500"/>
            <a:ext cx="3263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장치 상태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화면 출력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상호작용 진입점을 담당합니다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1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595D514-49C7-0CE3-6527-95F6418F6C42}"/>
              </a:ext>
            </a:extLst>
          </p:cNvPr>
          <p:cNvSpPr/>
          <p:nvPr/>
        </p:nvSpPr>
        <p:spPr>
          <a:xfrm>
            <a:off x="10795000" y="4000500"/>
            <a:ext cx="3619500" cy="1498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FF2C3C81-F3D0-AEB2-6E75-F57227D95CEE}"/>
              </a:ext>
            </a:extLst>
          </p:cNvPr>
          <p:cNvSpPr/>
          <p:nvPr/>
        </p:nvSpPr>
        <p:spPr>
          <a:xfrm>
            <a:off x="10795000" y="4000500"/>
            <a:ext cx="63500" cy="14986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E9CA140-68C3-F21E-9ACF-C64DA78DF1E6}"/>
              </a:ext>
            </a:extLst>
          </p:cNvPr>
          <p:cNvSpPr txBox="1"/>
          <p:nvPr/>
        </p:nvSpPr>
        <p:spPr>
          <a:xfrm>
            <a:off x="10998200" y="4178300"/>
            <a:ext cx="32639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Pawn / Input</a:t>
            </a:r>
            <a:endParaRPr lang="ko-KR" altLang="en-US" sz="1300" b="1">
              <a:solidFill>
                <a:srgbClr val="16A34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A8D1D36-556B-7DB4-98EC-7D385AE2A1CD}"/>
              </a:ext>
            </a:extLst>
          </p:cNvPr>
          <p:cNvSpPr txBox="1"/>
          <p:nvPr/>
        </p:nvSpPr>
        <p:spPr>
          <a:xfrm>
            <a:off x="10998200" y="4508500"/>
            <a:ext cx="32639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이동 지점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카메라 상태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입력 모드와 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UI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조작 전달을 담당합니다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1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CE09CA6-3380-B391-094D-95CC20C3B1BA}"/>
              </a:ext>
            </a:extLst>
          </p:cNvPr>
          <p:cNvSpPr/>
          <p:nvPr/>
        </p:nvSpPr>
        <p:spPr>
          <a:xfrm>
            <a:off x="990600" y="6667500"/>
            <a:ext cx="4191000" cy="12065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3BF28877-AE12-0CEE-A156-5F5130338256}"/>
              </a:ext>
            </a:extLst>
          </p:cNvPr>
          <p:cNvSpPr/>
          <p:nvPr/>
        </p:nvSpPr>
        <p:spPr>
          <a:xfrm>
            <a:off x="990600" y="6667500"/>
            <a:ext cx="63500" cy="12065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2015134-5D2F-B880-C538-EE187424FEF5}"/>
              </a:ext>
            </a:extLst>
          </p:cNvPr>
          <p:cNvSpPr txBox="1"/>
          <p:nvPr/>
        </p:nvSpPr>
        <p:spPr>
          <a:xfrm>
            <a:off x="1193800" y="6845300"/>
            <a:ext cx="383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EA580C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E7614B-B441-6A8F-D507-0E183AEBAE9F}"/>
              </a:ext>
            </a:extLst>
          </p:cNvPr>
          <p:cNvSpPr txBox="1"/>
          <p:nvPr/>
        </p:nvSpPr>
        <p:spPr>
          <a:xfrm>
            <a:off x="1193800" y="7175500"/>
            <a:ext cx="383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플레이어가 게임 밖 메뉴가 아니라 세계 안 장치를 직접 조작한다고 느끼게 하기 위해서입니다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1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BC3838B5-A200-338C-706E-8CF28D46107E}"/>
              </a:ext>
            </a:extLst>
          </p:cNvPr>
          <p:cNvSpPr/>
          <p:nvPr/>
        </p:nvSpPr>
        <p:spPr>
          <a:xfrm>
            <a:off x="6032500" y="6667500"/>
            <a:ext cx="4191000" cy="1206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6217EC01-F861-7083-8F74-07BE32E9729C}"/>
              </a:ext>
            </a:extLst>
          </p:cNvPr>
          <p:cNvSpPr/>
          <p:nvPr/>
        </p:nvSpPr>
        <p:spPr>
          <a:xfrm>
            <a:off x="6032500" y="6667500"/>
            <a:ext cx="63500" cy="1206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896D61F-375A-88F4-D7D6-A20F026FE688}"/>
              </a:ext>
            </a:extLst>
          </p:cNvPr>
          <p:cNvSpPr txBox="1"/>
          <p:nvPr/>
        </p:nvSpPr>
        <p:spPr>
          <a:xfrm>
            <a:off x="6235700" y="6845300"/>
            <a:ext cx="383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어떻게 구현했나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86DD235-D2E0-EF7A-8FEF-7DE14BC26AC9}"/>
              </a:ext>
            </a:extLst>
          </p:cNvPr>
          <p:cNvSpPr txBox="1"/>
          <p:nvPr/>
        </p:nvSpPr>
        <p:spPr>
          <a:xfrm>
            <a:off x="6235700" y="7175500"/>
            <a:ext cx="383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월드 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Actor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와 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Pawn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의 책임을 나누고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상호작용 후 이동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전원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·UI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진입을 순서대로 연결했습니다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1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68ED3732-09C3-9164-EE08-DFCD2B2DB658}"/>
              </a:ext>
            </a:extLst>
          </p:cNvPr>
          <p:cNvSpPr/>
          <p:nvPr/>
        </p:nvSpPr>
        <p:spPr>
          <a:xfrm>
            <a:off x="11074400" y="6667500"/>
            <a:ext cx="4191000" cy="12065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B8BEDE07-4012-5C35-1222-944090C512AD}"/>
              </a:ext>
            </a:extLst>
          </p:cNvPr>
          <p:cNvSpPr/>
          <p:nvPr/>
        </p:nvSpPr>
        <p:spPr>
          <a:xfrm>
            <a:off x="11074400" y="6667500"/>
            <a:ext cx="63500" cy="1206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3AF237-88BD-5D7B-48EE-CAD587D8EC25}"/>
              </a:ext>
            </a:extLst>
          </p:cNvPr>
          <p:cNvSpPr txBox="1"/>
          <p:nvPr/>
        </p:nvSpPr>
        <p:spPr>
          <a:xfrm>
            <a:off x="11277600" y="6845300"/>
            <a:ext cx="383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얻는 이점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95FFB1C-5FCF-3F8D-0069-93DDE60EEA74}"/>
              </a:ext>
            </a:extLst>
          </p:cNvPr>
          <p:cNvSpPr txBox="1"/>
          <p:nvPr/>
        </p:nvSpPr>
        <p:spPr>
          <a:xfrm>
            <a:off x="11277600" y="7175500"/>
            <a:ext cx="38354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상호작용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카메라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입력 모드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, UI </a:t>
            </a:r>
            <a:r>
              <a:rPr lang="ko-KR" altLang="en-US" sz="1100">
                <a:solidFill>
                  <a:srgbClr val="475569"/>
                </a:solidFill>
                <a:latin typeface="맑은 고딕" panose="020B0503020000020004" pitchFamily="34" charset="-127"/>
              </a:rPr>
              <a:t>표시가 하나의 자연스러운 사용자 흐름으로 묶입니다</a:t>
            </a:r>
            <a:r>
              <a:rPr lang="en-US" altLang="ko-KR" sz="11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1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694E2-194C-4679-6E46-4A8A9EE067DF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06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0311616-74DF-7223-450E-C11FFB33DB52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65804A-E5AA-D759-927E-0EA149726945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08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C6DF017-05C7-7D37-C29A-BAB4BB257549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04AC05-8D5F-AED0-03C9-96D0E057E78C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07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ACBDC4B-A4AC-D8F5-159E-49B77E548B8F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A5CA2B-942E-F24E-62E0-6BA57284C863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07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6609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5EB826-43B7-4F8A-0F79-8BD177EE856A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3D MONITOR INPUT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5E2A87-2F5E-9251-1692-5C6F13D55DFC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3D 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표면 </a:t>
            </a:r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Hit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를 </a:t>
            </a:r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2D UMG 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입력으로 보정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3885B4-A9EA-E9EF-7E82-C1E8B19AE468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월드 좌표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위젯 로컬 좌표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커서 좌표의 차이를 보정해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Hover / Click / Scroll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을 같은 경로로 전달했습니다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B98EA4-4CA4-5963-A280-600C4D787169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20FB9BC-A9E7-7A87-C06A-B4E8382AC771}"/>
              </a:ext>
            </a:extLst>
          </p:cNvPr>
          <p:cNvSpPr/>
          <p:nvPr/>
        </p:nvSpPr>
        <p:spPr>
          <a:xfrm>
            <a:off x="736600" y="2413000"/>
            <a:ext cx="6350000" cy="393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7797DB9-1E59-7224-DC63-67E7E512D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2601" y="2543745"/>
            <a:ext cx="4337132" cy="3298255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70E84AD-758B-8391-2644-DA48710578FF}"/>
              </a:ext>
            </a:extLst>
          </p:cNvPr>
          <p:cNvSpPr/>
          <p:nvPr/>
        </p:nvSpPr>
        <p:spPr>
          <a:xfrm>
            <a:off x="889000" y="5918200"/>
            <a:ext cx="6045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288AE-5306-1210-1D9E-8618BBC7204A}"/>
              </a:ext>
            </a:extLst>
          </p:cNvPr>
          <p:cNvSpPr txBox="1"/>
          <p:nvPr/>
        </p:nvSpPr>
        <p:spPr>
          <a:xfrm>
            <a:off x="1041400" y="5981700"/>
            <a:ext cx="5740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3D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모니터 위젯 실행 화면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609F03A-D0BC-F835-43F7-4BC806188F5A}"/>
              </a:ext>
            </a:extLst>
          </p:cNvPr>
          <p:cNvSpPr/>
          <p:nvPr/>
        </p:nvSpPr>
        <p:spPr>
          <a:xfrm>
            <a:off x="7747000" y="3022600"/>
            <a:ext cx="1229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19B6B-9AA7-EC8C-55B4-F50DCE077515}"/>
              </a:ext>
            </a:extLst>
          </p:cNvPr>
          <p:cNvSpPr txBox="1"/>
          <p:nvPr/>
        </p:nvSpPr>
        <p:spPr>
          <a:xfrm>
            <a:off x="7848600" y="3238500"/>
            <a:ext cx="1026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Cursor Hit</a:t>
            </a:r>
            <a:endParaRPr lang="ko-KR" altLang="en-US" sz="12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B0454A-83FA-84B5-E9FC-329CB8B359F8}"/>
              </a:ext>
            </a:extLst>
          </p:cNvPr>
          <p:cNvSpPr txBox="1"/>
          <p:nvPr/>
        </p:nvSpPr>
        <p:spPr>
          <a:xfrm>
            <a:off x="8925560" y="3225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44A5B60-22A4-BCB4-78D2-E6B26BD1486B}"/>
              </a:ext>
            </a:extLst>
          </p:cNvPr>
          <p:cNvSpPr/>
          <p:nvPr/>
        </p:nvSpPr>
        <p:spPr>
          <a:xfrm>
            <a:off x="9154160" y="3022600"/>
            <a:ext cx="1229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D4706EA-BC7D-EB24-9596-16132FBF37D8}"/>
              </a:ext>
            </a:extLst>
          </p:cNvPr>
          <p:cNvSpPr txBox="1"/>
          <p:nvPr/>
        </p:nvSpPr>
        <p:spPr>
          <a:xfrm>
            <a:off x="9255760" y="3238500"/>
            <a:ext cx="1026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Local </a:t>
            </a:r>
            <a:r>
              <a:rPr lang="ko-KR" altLang="en-US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좌표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F4C336D-65B5-A9CC-EB19-DA01946489E2}"/>
              </a:ext>
            </a:extLst>
          </p:cNvPr>
          <p:cNvSpPr txBox="1"/>
          <p:nvPr/>
        </p:nvSpPr>
        <p:spPr>
          <a:xfrm>
            <a:off x="10332720" y="3225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D2FD971-EEAE-9A1B-DC71-E7E33F5D7678}"/>
              </a:ext>
            </a:extLst>
          </p:cNvPr>
          <p:cNvSpPr/>
          <p:nvPr/>
        </p:nvSpPr>
        <p:spPr>
          <a:xfrm>
            <a:off x="10561320" y="3022600"/>
            <a:ext cx="1229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C87025-23B5-A352-988C-C8ED062877A6}"/>
              </a:ext>
            </a:extLst>
          </p:cNvPr>
          <p:cNvSpPr txBox="1"/>
          <p:nvPr/>
        </p:nvSpPr>
        <p:spPr>
          <a:xfrm>
            <a:off x="10662920" y="3238500"/>
            <a:ext cx="1026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UV </a:t>
            </a:r>
            <a:r>
              <a:rPr lang="ko-KR" altLang="en-US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변환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5A7EB6-4DDC-4518-4928-C2886BCE66FC}"/>
              </a:ext>
            </a:extLst>
          </p:cNvPr>
          <p:cNvSpPr txBox="1"/>
          <p:nvPr/>
        </p:nvSpPr>
        <p:spPr>
          <a:xfrm>
            <a:off x="11739880" y="3225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F268DFF-F1EC-319E-F15F-BBBA3F270711}"/>
              </a:ext>
            </a:extLst>
          </p:cNvPr>
          <p:cNvSpPr/>
          <p:nvPr/>
        </p:nvSpPr>
        <p:spPr>
          <a:xfrm>
            <a:off x="11968480" y="3022600"/>
            <a:ext cx="1229361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1396EE-6A9F-B18D-D0B8-F149CAAA79A6}"/>
              </a:ext>
            </a:extLst>
          </p:cNvPr>
          <p:cNvSpPr txBox="1"/>
          <p:nvPr/>
        </p:nvSpPr>
        <p:spPr>
          <a:xfrm>
            <a:off x="12070080" y="3238500"/>
            <a:ext cx="1026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중심 보정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BAD2E3C-8ACA-35EF-EFEF-0574EBD9F41B}"/>
              </a:ext>
            </a:extLst>
          </p:cNvPr>
          <p:cNvSpPr txBox="1"/>
          <p:nvPr/>
        </p:nvSpPr>
        <p:spPr>
          <a:xfrm>
            <a:off x="13147039" y="32258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0C391058-47BA-E931-1128-70DBCA972C25}"/>
              </a:ext>
            </a:extLst>
          </p:cNvPr>
          <p:cNvSpPr/>
          <p:nvPr/>
        </p:nvSpPr>
        <p:spPr>
          <a:xfrm>
            <a:off x="13375639" y="3022600"/>
            <a:ext cx="1229361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003046-2376-65C7-0A7A-85E5E20FCAE3}"/>
              </a:ext>
            </a:extLst>
          </p:cNvPr>
          <p:cNvSpPr txBox="1"/>
          <p:nvPr/>
        </p:nvSpPr>
        <p:spPr>
          <a:xfrm>
            <a:off x="13477239" y="3238500"/>
            <a:ext cx="1026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Custom Hit</a:t>
            </a:r>
            <a:endParaRPr lang="ko-KR" altLang="en-US" sz="12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0C82D43-3B37-0F52-0737-B54533B2B8B6}"/>
              </a:ext>
            </a:extLst>
          </p:cNvPr>
          <p:cNvSpPr/>
          <p:nvPr/>
        </p:nvSpPr>
        <p:spPr>
          <a:xfrm>
            <a:off x="7747000" y="4191000"/>
            <a:ext cx="3302000" cy="1651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1A288F7-EA85-4A83-82A3-9B42E217FE63}"/>
              </a:ext>
            </a:extLst>
          </p:cNvPr>
          <p:cNvSpPr/>
          <p:nvPr/>
        </p:nvSpPr>
        <p:spPr>
          <a:xfrm>
            <a:off x="7747000" y="4191000"/>
            <a:ext cx="63500" cy="1651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396FE7-2F5A-6C24-55CF-D49699A9570F}"/>
              </a:ext>
            </a:extLst>
          </p:cNvPr>
          <p:cNvSpPr txBox="1"/>
          <p:nvPr/>
        </p:nvSpPr>
        <p:spPr>
          <a:xfrm>
            <a:off x="8001000" y="44196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문제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3E7614-0592-90FE-D0CD-74D546F2CA9F}"/>
              </a:ext>
            </a:extLst>
          </p:cNvPr>
          <p:cNvSpPr txBox="1"/>
          <p:nvPr/>
        </p:nvSpPr>
        <p:spPr>
          <a:xfrm>
            <a:off x="8001000" y="4826000"/>
            <a:ext cx="2857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모니터 외곽이나 카메라 각도에 따라 커서 위치와 실제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UMG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입력 위치가 어긋날 수 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86E9CB94-2763-82BF-369E-721A8757E3AB}"/>
              </a:ext>
            </a:extLst>
          </p:cNvPr>
          <p:cNvSpPr/>
          <p:nvPr/>
        </p:nvSpPr>
        <p:spPr>
          <a:xfrm>
            <a:off x="11430000" y="4191000"/>
            <a:ext cx="3302000" cy="1651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2F58D6D9-92B8-368C-2666-F20BF0CFC072}"/>
              </a:ext>
            </a:extLst>
          </p:cNvPr>
          <p:cNvSpPr/>
          <p:nvPr/>
        </p:nvSpPr>
        <p:spPr>
          <a:xfrm>
            <a:off x="11430000" y="4191000"/>
            <a:ext cx="63500" cy="1651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3DB4FC-8F84-3D3B-4E4D-D0F4F365D92C}"/>
              </a:ext>
            </a:extLst>
          </p:cNvPr>
          <p:cNvSpPr txBox="1"/>
          <p:nvPr/>
        </p:nvSpPr>
        <p:spPr>
          <a:xfrm>
            <a:off x="11684000" y="44196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34" charset="-127"/>
              </a:rPr>
              <a:t>해결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F270BE-1F59-9798-9757-85BE46F3D5C9}"/>
              </a:ext>
            </a:extLst>
          </p:cNvPr>
          <p:cNvSpPr txBox="1"/>
          <p:nvPr/>
        </p:nvSpPr>
        <p:spPr>
          <a:xfrm>
            <a:off x="11684000" y="4826000"/>
            <a:ext cx="2857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표면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Hit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를 위젯 기준 좌표로 다시 계산하고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보정된 결과를 위젯 입력 경로에 주입했습니다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3" name="사각형: 둥근 모서리 32">
            <a:hlinkClick r:id="rId3"/>
            <a:extLst>
              <a:ext uri="{FF2B5EF4-FFF2-40B4-BE49-F238E27FC236}">
                <a16:creationId xmlns:a16="http://schemas.microsoft.com/office/drawing/2014/main" id="{F0A6B8A4-403B-C336-D77E-070977A0EAB0}"/>
              </a:ext>
            </a:extLst>
          </p:cNvPr>
          <p:cNvSpPr/>
          <p:nvPr/>
        </p:nvSpPr>
        <p:spPr>
          <a:xfrm>
            <a:off x="7747000" y="6540500"/>
            <a:ext cx="6985000" cy="8128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hlinkClick r:id="rId3"/>
            <a:extLst>
              <a:ext uri="{FF2B5EF4-FFF2-40B4-BE49-F238E27FC236}">
                <a16:creationId xmlns:a16="http://schemas.microsoft.com/office/drawing/2014/main" id="{799822BD-8CFA-684E-1989-E57305713BF6}"/>
              </a:ext>
            </a:extLst>
          </p:cNvPr>
          <p:cNvSpPr txBox="1"/>
          <p:nvPr/>
        </p:nvSpPr>
        <p:spPr>
          <a:xfrm>
            <a:off x="7975600" y="6667500"/>
            <a:ext cx="65278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0891B2"/>
                </a:solidFill>
                <a:latin typeface="맑은 고딕" panose="020B0503020000020004" pitchFamily="34" charset="-127"/>
              </a:rPr>
              <a:t>시연 영상</a:t>
            </a:r>
            <a:r>
              <a:rPr lang="en-US" altLang="ko-KR" sz="1300" b="1">
                <a:solidFill>
                  <a:srgbClr val="0891B2"/>
                </a:solidFill>
                <a:latin typeface="맑은 고딕" panose="020B0503020000020004" pitchFamily="34" charset="-127"/>
              </a:rPr>
              <a:t>: 3D </a:t>
            </a:r>
            <a:r>
              <a:rPr lang="ko-KR" altLang="en-US" sz="1300" b="1">
                <a:solidFill>
                  <a:srgbClr val="0891B2"/>
                </a:solidFill>
                <a:latin typeface="맑은 고딕" panose="020B0503020000020004" pitchFamily="34" charset="-127"/>
              </a:rPr>
              <a:t>모니터 </a:t>
            </a:r>
            <a:r>
              <a:rPr lang="en-US" altLang="ko-KR" sz="1300" b="1">
                <a:solidFill>
                  <a:srgbClr val="0891B2"/>
                </a:solidFill>
                <a:latin typeface="맑은 고딕" panose="020B0503020000020004" pitchFamily="34" charset="-127"/>
              </a:rPr>
              <a:t>/ </a:t>
            </a:r>
            <a:r>
              <a:rPr lang="ko-KR" altLang="en-US" sz="1300" b="1">
                <a:solidFill>
                  <a:srgbClr val="0891B2"/>
                </a:solidFill>
                <a:latin typeface="맑은 고딕" panose="020B0503020000020004" pitchFamily="34" charset="-127"/>
              </a:rPr>
              <a:t>위젯 기능</a:t>
            </a:r>
          </a:p>
        </p:txBody>
      </p:sp>
      <p:sp>
        <p:nvSpPr>
          <p:cNvPr id="38" name="TextBox 37">
            <a:hlinkClick r:id="rId3"/>
            <a:extLst>
              <a:ext uri="{FF2B5EF4-FFF2-40B4-BE49-F238E27FC236}">
                <a16:creationId xmlns:a16="http://schemas.microsoft.com/office/drawing/2014/main" id="{FD7E807A-3BF0-F392-E276-2F06184DD543}"/>
              </a:ext>
            </a:extLst>
          </p:cNvPr>
          <p:cNvSpPr txBox="1"/>
          <p:nvPr/>
        </p:nvSpPr>
        <p:spPr>
          <a:xfrm>
            <a:off x="7975600" y="6972300"/>
            <a:ext cx="6527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000">
                <a:solidFill>
                  <a:srgbClr val="475569"/>
                </a:solidFill>
                <a:latin typeface="맑은 고딕" panose="020B0503020000020004" pitchFamily="34" charset="-127"/>
              </a:rPr>
              <a:t>https://www.youtube.com/watch?v=BlseQIZLjQs</a:t>
            </a:r>
            <a:endParaRPr lang="ko-KR" altLang="en-US" sz="10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1E5EDC-647D-4FF3-17AC-0D5040E2C91F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07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2C9976E-8D42-4540-8D15-D7D474524796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DFD7A36-EC02-4DD9-A694-34DEC123C711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09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4CEAD46B-77E2-FBAB-88FF-8113EF7EBC73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5D44B6-525B-0992-5FE2-AE0A31373DC9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08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F78440B4-518D-F5C9-F18F-C9426C6C182D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F35BC39-5974-7A7B-AE0F-F175ADCF4305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08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12AC4D5-9057-136D-4AB0-01891ED3D154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29C637-64AD-506F-3F04-78F614200DCD}"/>
              </a:ext>
            </a:extLst>
          </p:cNvPr>
          <p:cNvSpPr txBox="1"/>
          <p:nvPr/>
        </p:nvSpPr>
        <p:spPr>
          <a:xfrm>
            <a:off x="15240000" y="8432800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rgbClr val="94A3B8"/>
                </a:solidFill>
                <a:latin typeface="맑은 고딕" panose="020B0503020000020004" pitchFamily="34" charset="-127"/>
              </a:rPr>
              <a:t>08</a:t>
            </a:r>
            <a:endParaRPr lang="ko-KR" altLang="en-US" sz="700">
              <a:solidFill>
                <a:srgbClr val="94A3B8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89910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1B5F0-0AEB-6939-D0CC-131D00DDCD04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CUSTOM UI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D65613-F09D-165C-1FD2-0CEFA1BF5158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공통 </a:t>
            </a:r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UI 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플러그인 위에 모니터 </a:t>
            </a:r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를 조립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161448-0809-FC01-A488-E8B1A90626BE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위젯 표시 상태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팝업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Registry,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버튼 계열을 공통화해 프로젝트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가 같은 규칙을 쓰도록 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F192687-EF7F-D4C5-18AE-695B0043A8A5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12FB16-FF1C-C6A8-4571-1BDD4FC3FD5F}"/>
              </a:ext>
            </a:extLst>
          </p:cNvPr>
          <p:cNvSpPr/>
          <p:nvPr/>
        </p:nvSpPr>
        <p:spPr>
          <a:xfrm>
            <a:off x="736600" y="2413000"/>
            <a:ext cx="6604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8D83F5-C507-AE5E-562B-0BE2B0FF84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810" y="2525828"/>
            <a:ext cx="4610900" cy="2731972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0F6264CE-E6CE-B34F-5CDD-439E259A276B}"/>
              </a:ext>
            </a:extLst>
          </p:cNvPr>
          <p:cNvSpPr/>
          <p:nvPr/>
        </p:nvSpPr>
        <p:spPr>
          <a:xfrm>
            <a:off x="889000" y="5283200"/>
            <a:ext cx="6299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FA9E92-3674-A6AF-4E72-BDF5C2DAD8E7}"/>
              </a:ext>
            </a:extLst>
          </p:cNvPr>
          <p:cNvSpPr txBox="1"/>
          <p:nvPr/>
        </p:nvSpPr>
        <p:spPr>
          <a:xfrm>
            <a:off x="1041400" y="5346700"/>
            <a:ext cx="599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CustomUI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설정 캡처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F393B644-33A5-7FF3-43D6-C7DB5858B30F}"/>
              </a:ext>
            </a:extLst>
          </p:cNvPr>
          <p:cNvSpPr/>
          <p:nvPr/>
        </p:nvSpPr>
        <p:spPr>
          <a:xfrm>
            <a:off x="7937500" y="2413000"/>
            <a:ext cx="3302000" cy="1803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03854E1-D55F-1799-7E84-03C59F3AF8D3}"/>
              </a:ext>
            </a:extLst>
          </p:cNvPr>
          <p:cNvSpPr/>
          <p:nvPr/>
        </p:nvSpPr>
        <p:spPr>
          <a:xfrm>
            <a:off x="7937500" y="2413000"/>
            <a:ext cx="63500" cy="18034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16A236-E376-763E-F865-87F31D30CE6D}"/>
              </a:ext>
            </a:extLst>
          </p:cNvPr>
          <p:cNvSpPr txBox="1"/>
          <p:nvPr/>
        </p:nvSpPr>
        <p:spPr>
          <a:xfrm>
            <a:off x="8191500" y="26416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CD20D8-7D4F-1DCA-08C8-667EBB8DA7FB}"/>
              </a:ext>
            </a:extLst>
          </p:cNvPr>
          <p:cNvSpPr txBox="1"/>
          <p:nvPr/>
        </p:nvSpPr>
        <p:spPr>
          <a:xfrm>
            <a:off x="8191500" y="3048000"/>
            <a:ext cx="2857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마다 열기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닫기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애니메이션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팝업 정리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텍스트 조회 규칙을 따로 만들면 유지보수 비용이 커집니다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9D6E0A94-95B9-4C85-2F2B-E8BA289F2CAD}"/>
              </a:ext>
            </a:extLst>
          </p:cNvPr>
          <p:cNvSpPr/>
          <p:nvPr/>
        </p:nvSpPr>
        <p:spPr>
          <a:xfrm>
            <a:off x="11747500" y="2413000"/>
            <a:ext cx="3302000" cy="18034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76ABEB5-65E0-85B4-A347-6F203BFA3D6C}"/>
              </a:ext>
            </a:extLst>
          </p:cNvPr>
          <p:cNvSpPr/>
          <p:nvPr/>
        </p:nvSpPr>
        <p:spPr>
          <a:xfrm>
            <a:off x="11747500" y="2413000"/>
            <a:ext cx="63500" cy="18034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C64817-B2F8-633D-3C28-9BED3E7A380F}"/>
              </a:ext>
            </a:extLst>
          </p:cNvPr>
          <p:cNvSpPr txBox="1"/>
          <p:nvPr/>
        </p:nvSpPr>
        <p:spPr>
          <a:xfrm>
            <a:off x="12001500" y="2641600"/>
            <a:ext cx="285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34" charset="-127"/>
              </a:rPr>
              <a:t>어떻게 구현했나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C27F55-B763-DF78-FB64-A5D9A014B97C}"/>
              </a:ext>
            </a:extLst>
          </p:cNvPr>
          <p:cNvSpPr txBox="1"/>
          <p:nvPr/>
        </p:nvSpPr>
        <p:spPr>
          <a:xfrm>
            <a:off x="12001500" y="3048000"/>
            <a:ext cx="28575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위젯 기본 상태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등록 위젯 조회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팝업 스택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버튼 계열 컴포넌트를 플러그인 경계로 묶었습니다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B29B77CC-08C1-8C58-847C-CC208F173FBD}"/>
              </a:ext>
            </a:extLst>
          </p:cNvPr>
          <p:cNvSpPr/>
          <p:nvPr/>
        </p:nvSpPr>
        <p:spPr>
          <a:xfrm>
            <a:off x="7937500" y="4622800"/>
            <a:ext cx="7112000" cy="1473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070FD65-B20D-95F5-6A9E-7A919BC420AB}"/>
              </a:ext>
            </a:extLst>
          </p:cNvPr>
          <p:cNvSpPr/>
          <p:nvPr/>
        </p:nvSpPr>
        <p:spPr>
          <a:xfrm>
            <a:off x="7937500" y="4622800"/>
            <a:ext cx="63500" cy="14732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5B7986-3847-2A08-98E1-9C03763E57BD}"/>
              </a:ext>
            </a:extLst>
          </p:cNvPr>
          <p:cNvSpPr txBox="1"/>
          <p:nvPr/>
        </p:nvSpPr>
        <p:spPr>
          <a:xfrm>
            <a:off x="8191500" y="4851400"/>
            <a:ext cx="666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A34A"/>
                </a:solidFill>
                <a:latin typeface="맑은 고딕" panose="020B0503020000020004" pitchFamily="34" charset="-127"/>
              </a:rPr>
              <a:t>얻는 이점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89801C-6553-0B7A-F3A4-B1A042A438E3}"/>
              </a:ext>
            </a:extLst>
          </p:cNvPr>
          <p:cNvSpPr txBox="1"/>
          <p:nvPr/>
        </p:nvSpPr>
        <p:spPr>
          <a:xfrm>
            <a:off x="8191500" y="5257800"/>
            <a:ext cx="6667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모니터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UI,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팝업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버튼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텍스트 연출을 같은 기반 위에서 추가할 수 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891974A-2A3F-70ED-783F-EDF2B89401D6}"/>
              </a:ext>
            </a:extLst>
          </p:cNvPr>
          <p:cNvSpPr/>
          <p:nvPr/>
        </p:nvSpPr>
        <p:spPr>
          <a:xfrm>
            <a:off x="1841500" y="6794500"/>
            <a:ext cx="2372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D11321-4EA2-BD8B-E6A7-2793F9C0D7D4}"/>
              </a:ext>
            </a:extLst>
          </p:cNvPr>
          <p:cNvSpPr txBox="1"/>
          <p:nvPr/>
        </p:nvSpPr>
        <p:spPr>
          <a:xfrm>
            <a:off x="1943100" y="7010400"/>
            <a:ext cx="2169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Widget Base</a:t>
            </a:r>
            <a:endParaRPr lang="ko-KR" altLang="en-US" sz="12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2BCD0A9-15C5-A091-FA13-E0FF22318030}"/>
              </a:ext>
            </a:extLst>
          </p:cNvPr>
          <p:cNvSpPr txBox="1"/>
          <p:nvPr/>
        </p:nvSpPr>
        <p:spPr>
          <a:xfrm>
            <a:off x="4163060" y="6997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EF736EC3-BE82-42C5-FFCE-22966913D5E5}"/>
              </a:ext>
            </a:extLst>
          </p:cNvPr>
          <p:cNvSpPr/>
          <p:nvPr/>
        </p:nvSpPr>
        <p:spPr>
          <a:xfrm>
            <a:off x="4391660" y="6794500"/>
            <a:ext cx="2372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194CBAB-1AFD-F1DB-513F-76A5C1F3D80D}"/>
              </a:ext>
            </a:extLst>
          </p:cNvPr>
          <p:cNvSpPr txBox="1"/>
          <p:nvPr/>
        </p:nvSpPr>
        <p:spPr>
          <a:xfrm>
            <a:off x="4493260" y="7010400"/>
            <a:ext cx="2169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Registry</a:t>
            </a:r>
            <a:endParaRPr lang="ko-KR" altLang="en-US" sz="12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E05A67E-847C-F634-EB04-1C3D9025D5EE}"/>
              </a:ext>
            </a:extLst>
          </p:cNvPr>
          <p:cNvSpPr txBox="1"/>
          <p:nvPr/>
        </p:nvSpPr>
        <p:spPr>
          <a:xfrm>
            <a:off x="6713220" y="6997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42D3D4BF-73B3-9108-62B5-188DEA9CD6AA}"/>
              </a:ext>
            </a:extLst>
          </p:cNvPr>
          <p:cNvSpPr/>
          <p:nvPr/>
        </p:nvSpPr>
        <p:spPr>
          <a:xfrm>
            <a:off x="6941820" y="6794500"/>
            <a:ext cx="2372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A9F09D-A672-C7D3-D0DB-9F300C3ABE80}"/>
              </a:ext>
            </a:extLst>
          </p:cNvPr>
          <p:cNvSpPr txBox="1"/>
          <p:nvPr/>
        </p:nvSpPr>
        <p:spPr>
          <a:xfrm>
            <a:off x="7043420" y="7010400"/>
            <a:ext cx="2169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Popup Stack</a:t>
            </a:r>
            <a:endParaRPr lang="ko-KR" altLang="en-US" sz="12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4B3338F-2AC3-C601-B372-8257DCCE3E9E}"/>
              </a:ext>
            </a:extLst>
          </p:cNvPr>
          <p:cNvSpPr txBox="1"/>
          <p:nvPr/>
        </p:nvSpPr>
        <p:spPr>
          <a:xfrm>
            <a:off x="9263380" y="6997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03DA51A7-01D6-A6D6-21F4-2CB74B7CD3DC}"/>
              </a:ext>
            </a:extLst>
          </p:cNvPr>
          <p:cNvSpPr/>
          <p:nvPr/>
        </p:nvSpPr>
        <p:spPr>
          <a:xfrm>
            <a:off x="9491980" y="6794500"/>
            <a:ext cx="2372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3F7A11-6355-29B7-68D5-2C6018483C68}"/>
              </a:ext>
            </a:extLst>
          </p:cNvPr>
          <p:cNvSpPr txBox="1"/>
          <p:nvPr/>
        </p:nvSpPr>
        <p:spPr>
          <a:xfrm>
            <a:off x="9593580" y="7010400"/>
            <a:ext cx="2169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Button Components</a:t>
            </a:r>
            <a:endParaRPr lang="ko-KR" altLang="en-US" sz="12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8E465F-3BE8-F02E-373D-234B396F3210}"/>
              </a:ext>
            </a:extLst>
          </p:cNvPr>
          <p:cNvSpPr txBox="1"/>
          <p:nvPr/>
        </p:nvSpPr>
        <p:spPr>
          <a:xfrm>
            <a:off x="11813540" y="6997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8F2879D4-0146-C42A-AD62-9B3E780BAA38}"/>
              </a:ext>
            </a:extLst>
          </p:cNvPr>
          <p:cNvSpPr/>
          <p:nvPr/>
        </p:nvSpPr>
        <p:spPr>
          <a:xfrm>
            <a:off x="12042140" y="6794500"/>
            <a:ext cx="23723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6E1256-9F7B-2049-3DD8-804E9E52F872}"/>
              </a:ext>
            </a:extLst>
          </p:cNvPr>
          <p:cNvSpPr txBox="1"/>
          <p:nvPr/>
        </p:nvSpPr>
        <p:spPr>
          <a:xfrm>
            <a:off x="12143740" y="7010400"/>
            <a:ext cx="21691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Project UI</a:t>
            </a:r>
            <a:endParaRPr lang="ko-KR" altLang="en-US" sz="12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480511-F766-FECB-D1D3-921E88662ED9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08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BB74151-05B2-FD22-3900-FD87689B71B2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577E9FA-7F80-68CF-4A9E-B3ED586F70B7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10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3FF55E3D-A6E9-47BD-54F6-B5AAB72EF3CF}"/>
              </a:ext>
            </a:extLst>
          </p:cNvPr>
          <p:cNvSpPr/>
          <p:nvPr/>
        </p:nvSpPr>
        <p:spPr>
          <a:xfrm>
            <a:off x="711200" y="2260600"/>
            <a:ext cx="6604000" cy="41402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723CF292-4D9A-4604-3B47-DD5D249A09F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540000"/>
            <a:ext cx="6350000" cy="24257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113815B-B9BB-5297-9AB8-2E910EB20E88}"/>
              </a:ext>
            </a:extLst>
          </p:cNvPr>
          <p:cNvSpPr txBox="1"/>
          <p:nvPr/>
        </p:nvSpPr>
        <p:spPr>
          <a:xfrm>
            <a:off x="990600" y="5257800"/>
            <a:ext cx="58420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구조 요약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: WidgetSubsystem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Registry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통해 공통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WidgetBase 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계열을 생성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캐시하고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프로젝트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가 이를 조립합니다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8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6837395C-927C-39D4-FD5F-6A1E6E207D11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7660D08-743C-9BBB-D893-774D86ADCD15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09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B50EB70-5E25-07D2-B35B-86572D874045}"/>
              </a:ext>
            </a:extLst>
          </p:cNvPr>
          <p:cNvSpPr/>
          <p:nvPr/>
        </p:nvSpPr>
        <p:spPr>
          <a:xfrm>
            <a:off x="711200" y="2260600"/>
            <a:ext cx="6604000" cy="41402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C461FB96-4DFC-5B9B-502F-B46463AA45FD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540000"/>
            <a:ext cx="6350000" cy="2425700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34EAE88C-9655-65F0-A953-0E8C0E09D7C3}"/>
              </a:ext>
            </a:extLst>
          </p:cNvPr>
          <p:cNvSpPr txBox="1"/>
          <p:nvPr/>
        </p:nvSpPr>
        <p:spPr>
          <a:xfrm>
            <a:off x="990600" y="5257800"/>
            <a:ext cx="5842000" cy="28725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구조 요약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: WidgetSubsystem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Registry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통해 공통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WidgetBase 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계열을 생성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캐시하고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프로젝트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가 이를 조립합니다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8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68E66A3-5B55-2642-BCF9-8A5CEE3C0EC9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C9025E9-E285-C37B-7998-9F69CA9C20CC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09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5F5AA8FB-182F-F965-E94F-8056B6B89474}"/>
              </a:ext>
            </a:extLst>
          </p:cNvPr>
          <p:cNvSpPr/>
          <p:nvPr/>
        </p:nvSpPr>
        <p:spPr>
          <a:xfrm>
            <a:off x="635000" y="2260600"/>
            <a:ext cx="14478000" cy="58674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FB568AD-75FF-9EC2-3966-A1771CCB0F6F}"/>
              </a:ext>
            </a:extLst>
          </p:cNvPr>
          <p:cNvSpPr/>
          <p:nvPr/>
        </p:nvSpPr>
        <p:spPr>
          <a:xfrm>
            <a:off x="736600" y="2349500"/>
            <a:ext cx="14312900" cy="40386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림 51">
            <a:extLst>
              <a:ext uri="{FF2B5EF4-FFF2-40B4-BE49-F238E27FC236}">
                <a16:creationId xmlns:a16="http://schemas.microsoft.com/office/drawing/2014/main" id="{CB1072E1-6FBA-CBF2-3777-C773FB7DEE50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800" y="2603500"/>
            <a:ext cx="13868400" cy="3759200"/>
          </a:xfrm>
          <a:prstGeom prst="rect">
            <a:avLst/>
          </a:prstGeom>
        </p:spPr>
      </p:pic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A1E46C0E-DE52-197B-F766-B569CF0E3FA1}"/>
              </a:ext>
            </a:extLst>
          </p:cNvPr>
          <p:cNvSpPr/>
          <p:nvPr/>
        </p:nvSpPr>
        <p:spPr>
          <a:xfrm>
            <a:off x="736600" y="6794500"/>
            <a:ext cx="4572000" cy="12065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DA6E475-42D1-3CC0-D249-340CE01FBC2D}"/>
              </a:ext>
            </a:extLst>
          </p:cNvPr>
          <p:cNvSpPr/>
          <p:nvPr/>
        </p:nvSpPr>
        <p:spPr>
          <a:xfrm>
            <a:off x="736600" y="6794500"/>
            <a:ext cx="63500" cy="1206500"/>
          </a:xfrm>
          <a:prstGeom prst="rect">
            <a:avLst/>
          </a:prstGeom>
          <a:solidFill>
            <a:srgbClr val="F954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0321364-8FD2-B537-D561-D2A97B4A1DA3}"/>
              </a:ext>
            </a:extLst>
          </p:cNvPr>
          <p:cNvSpPr txBox="1"/>
          <p:nvPr/>
        </p:nvSpPr>
        <p:spPr>
          <a:xfrm>
            <a:off x="990600" y="70104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F95418"/>
                </a:solidFill>
                <a:latin typeface="맑은 고딕" panose="020B0503020000020004" pitchFamily="34" charset="-127"/>
              </a:rPr>
              <a:t>문제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675637-21D9-AF3E-1CB7-DE95FC49830F}"/>
              </a:ext>
            </a:extLst>
          </p:cNvPr>
          <p:cNvSpPr txBox="1"/>
          <p:nvPr/>
        </p:nvSpPr>
        <p:spPr>
          <a:xfrm>
            <a:off x="990600" y="74041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마다 열기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닫기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애니메이션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팝업 정리를 따로 만들면 유지보수 비용이 커집니다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F5E72C64-CB8F-B399-F74B-DB36555DE973}"/>
              </a:ext>
            </a:extLst>
          </p:cNvPr>
          <p:cNvSpPr/>
          <p:nvPr/>
        </p:nvSpPr>
        <p:spPr>
          <a:xfrm>
            <a:off x="5842000" y="6794500"/>
            <a:ext cx="4572000" cy="120650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98647277-B582-7202-471C-A6502B8D0616}"/>
              </a:ext>
            </a:extLst>
          </p:cNvPr>
          <p:cNvSpPr/>
          <p:nvPr/>
        </p:nvSpPr>
        <p:spPr>
          <a:xfrm>
            <a:off x="5842000" y="6794500"/>
            <a:ext cx="63500" cy="1206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DF4CE3-E882-B1B3-CB82-ED96B23BE344}"/>
              </a:ext>
            </a:extLst>
          </p:cNvPr>
          <p:cNvSpPr txBox="1"/>
          <p:nvPr/>
        </p:nvSpPr>
        <p:spPr>
          <a:xfrm>
            <a:off x="6096000" y="70104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2563EB"/>
                </a:solidFill>
                <a:latin typeface="맑은 고딕" panose="020B0503020000020004" pitchFamily="34" charset="-127"/>
              </a:rPr>
              <a:t>구조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E470D8-16C2-68B9-CF0E-ACBC7D3DEC72}"/>
              </a:ext>
            </a:extLst>
          </p:cNvPr>
          <p:cNvSpPr txBox="1"/>
          <p:nvPr/>
        </p:nvSpPr>
        <p:spPr>
          <a:xfrm>
            <a:off x="6096000" y="74041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WidgetSubsystem, Registry, WidgetBase, Popup, Button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계열을 공통 플러그인 경계로 묶었습니다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950633F-0216-F009-925E-751C8BE07C96}"/>
              </a:ext>
            </a:extLst>
          </p:cNvPr>
          <p:cNvSpPr/>
          <p:nvPr/>
        </p:nvSpPr>
        <p:spPr>
          <a:xfrm>
            <a:off x="10947400" y="6794500"/>
            <a:ext cx="4572000" cy="12065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6EBBA112-F647-19BE-DA47-D5E536646EE3}"/>
              </a:ext>
            </a:extLst>
          </p:cNvPr>
          <p:cNvSpPr/>
          <p:nvPr/>
        </p:nvSpPr>
        <p:spPr>
          <a:xfrm>
            <a:off x="10947400" y="6794500"/>
            <a:ext cx="63500" cy="1206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062AD6D-2CC0-AFF3-7EB1-D4013E31EF4C}"/>
              </a:ext>
            </a:extLst>
          </p:cNvPr>
          <p:cNvSpPr txBox="1"/>
          <p:nvPr/>
        </p:nvSpPr>
        <p:spPr>
          <a:xfrm>
            <a:off x="11201400" y="70104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효과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82AC531-9208-64E7-99EB-D07AADA7284D}"/>
              </a:ext>
            </a:extLst>
          </p:cNvPr>
          <p:cNvSpPr txBox="1"/>
          <p:nvPr/>
        </p:nvSpPr>
        <p:spPr>
          <a:xfrm>
            <a:off x="11201400" y="74041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모니터 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UI,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팝업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버튼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텍스트 연출을 같은 기반 위에서 추가할 수 있습니다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3804C75-EF52-73BF-26A9-D06A2866B8E3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58286F9-AFFE-D589-A1C0-9D0721BC2217}"/>
              </a:ext>
            </a:extLst>
          </p:cNvPr>
          <p:cNvSpPr txBox="1"/>
          <p:nvPr/>
        </p:nvSpPr>
        <p:spPr>
          <a:xfrm>
            <a:off x="15240000" y="8432800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rgbClr val="94A3B8"/>
                </a:solidFill>
                <a:latin typeface="맑은 고딕" panose="020B0503020000020004" pitchFamily="34" charset="-127"/>
              </a:rPr>
              <a:t>09</a:t>
            </a:r>
            <a:endParaRPr lang="ko-KR" altLang="en-US" sz="700">
              <a:solidFill>
                <a:srgbClr val="94A3B8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9090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485CFD-A8C0-3A8C-C3C7-2BE73E7A7A49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WINDOW MANAGER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169BCB-5FCE-4162-E3FD-88EA4A0ECA3D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모니터 내부는 단일 화면이 아니라 창 시스템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8D713D-19DB-B2D5-3489-40C2E37B66DC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창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탭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아이콘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포커스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ZOrder,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드래그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리사이즈 상태를 묶어 데스크톱형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UX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를 구성했습니다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A080477-73B0-E7C3-92D6-AE34FF1F5B8D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ECB2E68-605A-29EE-39B7-9B446948F8B5}"/>
              </a:ext>
            </a:extLst>
          </p:cNvPr>
          <p:cNvSpPr/>
          <p:nvPr/>
        </p:nvSpPr>
        <p:spPr>
          <a:xfrm>
            <a:off x="736600" y="2349500"/>
            <a:ext cx="7874000" cy="450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659AFAB-1C48-3D45-C1BE-6577B1483FE8}"/>
              </a:ext>
            </a:extLst>
          </p:cNvPr>
          <p:cNvSpPr/>
          <p:nvPr/>
        </p:nvSpPr>
        <p:spPr>
          <a:xfrm>
            <a:off x="889000" y="6426200"/>
            <a:ext cx="7569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A8A516-2A14-389C-16EA-1ABA3E78DD0C}"/>
              </a:ext>
            </a:extLst>
          </p:cNvPr>
          <p:cNvSpPr txBox="1"/>
          <p:nvPr/>
        </p:nvSpPr>
        <p:spPr>
          <a:xfrm>
            <a:off x="1041400" y="6489700"/>
            <a:ext cx="7264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WindowManager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구조 다이어그램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0237DDC-D580-7DDD-6766-E999DB641769}"/>
              </a:ext>
            </a:extLst>
          </p:cNvPr>
          <p:cNvSpPr/>
          <p:nvPr/>
        </p:nvSpPr>
        <p:spPr>
          <a:xfrm>
            <a:off x="9144000" y="2413000"/>
            <a:ext cx="5334000" cy="1295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EBA9F4C-E363-C4CD-2365-40AE2887E78A}"/>
              </a:ext>
            </a:extLst>
          </p:cNvPr>
          <p:cNvSpPr/>
          <p:nvPr/>
        </p:nvSpPr>
        <p:spPr>
          <a:xfrm>
            <a:off x="9144000" y="2413000"/>
            <a:ext cx="63500" cy="12954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88E2C6-FF8E-45B6-D7A6-7E4C8D81912A}"/>
              </a:ext>
            </a:extLst>
          </p:cNvPr>
          <p:cNvSpPr txBox="1"/>
          <p:nvPr/>
        </p:nvSpPr>
        <p:spPr>
          <a:xfrm>
            <a:off x="9398000" y="2641600"/>
            <a:ext cx="488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A6A933-D837-FB71-2CE4-4473F8BE8182}"/>
              </a:ext>
            </a:extLst>
          </p:cNvPr>
          <p:cNvSpPr txBox="1"/>
          <p:nvPr/>
        </p:nvSpPr>
        <p:spPr>
          <a:xfrm>
            <a:off x="9398000" y="3048000"/>
            <a:ext cx="4889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모니터 안에서 여러 사이트와 창을 다루려면 단순 화면 전환보다 창 단위 상태 관리가 필요했습니다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74516FD-EBF8-362E-839D-BACF5EF268E8}"/>
              </a:ext>
            </a:extLst>
          </p:cNvPr>
          <p:cNvSpPr/>
          <p:nvPr/>
        </p:nvSpPr>
        <p:spPr>
          <a:xfrm>
            <a:off x="9144000" y="4038600"/>
            <a:ext cx="5334000" cy="1473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1E209D-0034-89C4-CC4C-2F5D4ED1069D}"/>
              </a:ext>
            </a:extLst>
          </p:cNvPr>
          <p:cNvSpPr/>
          <p:nvPr/>
        </p:nvSpPr>
        <p:spPr>
          <a:xfrm>
            <a:off x="9144000" y="4038600"/>
            <a:ext cx="63500" cy="14732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802A63-C970-4012-D33B-0FDC6B764016}"/>
              </a:ext>
            </a:extLst>
          </p:cNvPr>
          <p:cNvSpPr txBox="1"/>
          <p:nvPr/>
        </p:nvSpPr>
        <p:spPr>
          <a:xfrm>
            <a:off x="9398000" y="4267200"/>
            <a:ext cx="488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34" charset="-127"/>
              </a:rPr>
              <a:t>어떻게 구현했나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D9A85F-5496-6492-A255-C6AEE6ADD7AA}"/>
              </a:ext>
            </a:extLst>
          </p:cNvPr>
          <p:cNvSpPr txBox="1"/>
          <p:nvPr/>
        </p:nvSpPr>
        <p:spPr>
          <a:xfrm>
            <a:off x="9398000" y="4673600"/>
            <a:ext cx="4889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창 데이터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탭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아이콘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최상단 창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최소화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복원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최대화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이동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리사이즈 명령을 공통 관리합니다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F512B5D5-B23F-F6E1-1088-E8A5054B4B78}"/>
              </a:ext>
            </a:extLst>
          </p:cNvPr>
          <p:cNvSpPr/>
          <p:nvPr/>
        </p:nvSpPr>
        <p:spPr>
          <a:xfrm>
            <a:off x="9144000" y="5842000"/>
            <a:ext cx="5334000" cy="1219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633382-FF6E-6665-46D6-D91F07F864C0}"/>
              </a:ext>
            </a:extLst>
          </p:cNvPr>
          <p:cNvSpPr/>
          <p:nvPr/>
        </p:nvSpPr>
        <p:spPr>
          <a:xfrm>
            <a:off x="9144000" y="5842000"/>
            <a:ext cx="63500" cy="12192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9D682C-269B-009C-3F7B-C9A3E29FAD95}"/>
              </a:ext>
            </a:extLst>
          </p:cNvPr>
          <p:cNvSpPr txBox="1"/>
          <p:nvPr/>
        </p:nvSpPr>
        <p:spPr>
          <a:xfrm>
            <a:off x="9398000" y="6070600"/>
            <a:ext cx="4889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A34A"/>
                </a:solidFill>
                <a:latin typeface="맑은 고딕" panose="020B0503020000020004" pitchFamily="34" charset="-127"/>
              </a:rPr>
              <a:t>얻는 이점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457C8-F964-5A66-4222-18E9B6C097B3}"/>
              </a:ext>
            </a:extLst>
          </p:cNvPr>
          <p:cNvSpPr txBox="1"/>
          <p:nvPr/>
        </p:nvSpPr>
        <p:spPr>
          <a:xfrm>
            <a:off x="9398000" y="6477000"/>
            <a:ext cx="4889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새 앱이나 사이트형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를 추가해도 창 관리 규칙을 다시 만들 필요가 줄어듭니다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FE313EF-EA03-6C8C-E30E-B0DAEF064126}"/>
              </a:ext>
            </a:extLst>
          </p:cNvPr>
          <p:cNvSpPr/>
          <p:nvPr/>
        </p:nvSpPr>
        <p:spPr>
          <a:xfrm>
            <a:off x="9398000" y="7493000"/>
            <a:ext cx="1397000" cy="482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E8B9998-EE6F-A80F-2A91-31AEFC965EA9}"/>
              </a:ext>
            </a:extLst>
          </p:cNvPr>
          <p:cNvSpPr txBox="1"/>
          <p:nvPr/>
        </p:nvSpPr>
        <p:spPr>
          <a:xfrm>
            <a:off x="9575800" y="7607300"/>
            <a:ext cx="1041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2563EB"/>
                </a:solidFill>
                <a:latin typeface="맑은 고딕" panose="020B0503020000020004" pitchFamily="34" charset="-127"/>
              </a:rPr>
              <a:t>창 생성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66635023-540F-128E-88E1-80FB33D1A6A9}"/>
              </a:ext>
            </a:extLst>
          </p:cNvPr>
          <p:cNvSpPr/>
          <p:nvPr/>
        </p:nvSpPr>
        <p:spPr>
          <a:xfrm>
            <a:off x="11049000" y="7493000"/>
            <a:ext cx="1270000" cy="4826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D0A55F-5009-D126-4A75-C8050CD2E0DB}"/>
              </a:ext>
            </a:extLst>
          </p:cNvPr>
          <p:cNvSpPr txBox="1"/>
          <p:nvPr/>
        </p:nvSpPr>
        <p:spPr>
          <a:xfrm>
            <a:off x="11226800" y="7607300"/>
            <a:ext cx="914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7C3AED"/>
                </a:solidFill>
                <a:latin typeface="맑은 고딕" panose="020B0503020000020004" pitchFamily="34" charset="-127"/>
              </a:rPr>
              <a:t>포커스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51EE3DDC-F2B2-9148-CB8D-8F1DF0B40DFA}"/>
              </a:ext>
            </a:extLst>
          </p:cNvPr>
          <p:cNvSpPr/>
          <p:nvPr/>
        </p:nvSpPr>
        <p:spPr>
          <a:xfrm>
            <a:off x="12573000" y="7493000"/>
            <a:ext cx="889000" cy="482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F87919-4995-0708-FD28-91EDC319D93C}"/>
              </a:ext>
            </a:extLst>
          </p:cNvPr>
          <p:cNvSpPr txBox="1"/>
          <p:nvPr/>
        </p:nvSpPr>
        <p:spPr>
          <a:xfrm>
            <a:off x="12750800" y="7607300"/>
            <a:ext cx="533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0891B2"/>
                </a:solidFill>
                <a:latin typeface="맑은 고딕" panose="020B0503020000020004" pitchFamily="34" charset="-127"/>
              </a:rPr>
              <a:t>탭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DE245D5-0376-ED9A-81A1-D117EAB91770}"/>
              </a:ext>
            </a:extLst>
          </p:cNvPr>
          <p:cNvSpPr/>
          <p:nvPr/>
        </p:nvSpPr>
        <p:spPr>
          <a:xfrm>
            <a:off x="13716000" y="7493000"/>
            <a:ext cx="1524000" cy="482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3F399D-8E0D-469E-480F-8754D7E6B19C}"/>
              </a:ext>
            </a:extLst>
          </p:cNvPr>
          <p:cNvSpPr txBox="1"/>
          <p:nvPr/>
        </p:nvSpPr>
        <p:spPr>
          <a:xfrm>
            <a:off x="13893800" y="7607300"/>
            <a:ext cx="1168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16A34A"/>
                </a:solidFill>
                <a:latin typeface="맑은 고딕" panose="020B0503020000020004" pitchFamily="34" charset="-127"/>
              </a:rPr>
              <a:t>리사이즈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E54C710-6EDC-019F-3812-A7E76D6DD779}"/>
              </a:ext>
            </a:extLst>
          </p:cNvPr>
          <p:cNvSpPr/>
          <p:nvPr/>
        </p:nvSpPr>
        <p:spPr>
          <a:xfrm>
            <a:off x="736600" y="2349500"/>
            <a:ext cx="7874000" cy="450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359570-A2E7-39B6-5392-6DA553982FF2}"/>
              </a:ext>
            </a:extLst>
          </p:cNvPr>
          <p:cNvSpPr txBox="1"/>
          <p:nvPr/>
        </p:nvSpPr>
        <p:spPr>
          <a:xfrm>
            <a:off x="3302000" y="2730500"/>
            <a:ext cx="2667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2200" b="1">
                <a:solidFill>
                  <a:srgbClr val="2563EB"/>
                </a:solidFill>
                <a:latin typeface="맑은 고딕" panose="020B0503020000020004" pitchFamily="34" charset="-127"/>
              </a:rPr>
              <a:t>WindowManager</a:t>
            </a:r>
            <a:endParaRPr lang="ko-KR" altLang="en-US" sz="2200" b="1">
              <a:solidFill>
                <a:srgbClr val="2563EB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6AAFD9-9847-57D7-F1EA-78998E4FD608}"/>
              </a:ext>
            </a:extLst>
          </p:cNvPr>
          <p:cNvSpPr txBox="1"/>
          <p:nvPr/>
        </p:nvSpPr>
        <p:spPr>
          <a:xfrm>
            <a:off x="2984500" y="3200400"/>
            <a:ext cx="3302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475569"/>
                </a:solidFill>
                <a:latin typeface="맑은 고딕" panose="020B0503020000020004" pitchFamily="34" charset="-127"/>
              </a:rPr>
              <a:t>창 데이터와 최상단 창 상태를 관리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86A64D0-36DD-A8F1-5A5F-20406808C481}"/>
              </a:ext>
            </a:extLst>
          </p:cNvPr>
          <p:cNvSpPr/>
          <p:nvPr/>
        </p:nvSpPr>
        <p:spPr>
          <a:xfrm>
            <a:off x="1244600" y="4127500"/>
            <a:ext cx="1714500" cy="4826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2D084AB-D426-FFD6-8642-D78EF509AA65}"/>
              </a:ext>
            </a:extLst>
          </p:cNvPr>
          <p:cNvSpPr txBox="1"/>
          <p:nvPr/>
        </p:nvSpPr>
        <p:spPr>
          <a:xfrm>
            <a:off x="1371600" y="4241800"/>
            <a:ext cx="1460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2563EB"/>
                </a:solidFill>
                <a:latin typeface="맑은 고딕" panose="020B0503020000020004" pitchFamily="34" charset="-127"/>
              </a:rPr>
              <a:t>Window Data</a:t>
            </a:r>
            <a:endParaRPr lang="ko-KR" altLang="en-US" sz="1100" b="1">
              <a:solidFill>
                <a:srgbClr val="2563EB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76C92591-BFF2-2081-50B5-3B8E4577D79E}"/>
              </a:ext>
            </a:extLst>
          </p:cNvPr>
          <p:cNvSpPr/>
          <p:nvPr/>
        </p:nvSpPr>
        <p:spPr>
          <a:xfrm>
            <a:off x="3175000" y="4127500"/>
            <a:ext cx="1651000" cy="4826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0891B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B6C034B-DCC0-F1AE-0871-846DE2B1D388}"/>
              </a:ext>
            </a:extLst>
          </p:cNvPr>
          <p:cNvSpPr txBox="1"/>
          <p:nvPr/>
        </p:nvSpPr>
        <p:spPr>
          <a:xfrm>
            <a:off x="3302000" y="4241800"/>
            <a:ext cx="139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0891B2"/>
                </a:solidFill>
                <a:latin typeface="맑은 고딕" panose="020B0503020000020004" pitchFamily="34" charset="-127"/>
              </a:rPr>
              <a:t>WindowBase</a:t>
            </a:r>
            <a:endParaRPr lang="ko-KR" altLang="en-US" sz="1100" b="1">
              <a:solidFill>
                <a:srgbClr val="0891B2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DC76666-19C7-9B57-DDC2-A8F567B634CF}"/>
              </a:ext>
            </a:extLst>
          </p:cNvPr>
          <p:cNvSpPr/>
          <p:nvPr/>
        </p:nvSpPr>
        <p:spPr>
          <a:xfrm>
            <a:off x="5054600" y="4127500"/>
            <a:ext cx="1524000" cy="4826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9FF352E-EDBC-597C-6837-0AAF9E7CA60E}"/>
              </a:ext>
            </a:extLst>
          </p:cNvPr>
          <p:cNvSpPr txBox="1"/>
          <p:nvPr/>
        </p:nvSpPr>
        <p:spPr>
          <a:xfrm>
            <a:off x="5181600" y="4241800"/>
            <a:ext cx="1270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7C3AED"/>
                </a:solidFill>
                <a:latin typeface="맑은 고딕" panose="020B0503020000020004" pitchFamily="34" charset="-127"/>
              </a:rPr>
              <a:t>Tab / Icon</a:t>
            </a:r>
            <a:endParaRPr lang="ko-KR" altLang="en-US" sz="1100" b="1">
              <a:solidFill>
                <a:srgbClr val="7C3AED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B024C70-493D-2482-1A05-758430AB9453}"/>
              </a:ext>
            </a:extLst>
          </p:cNvPr>
          <p:cNvSpPr/>
          <p:nvPr/>
        </p:nvSpPr>
        <p:spPr>
          <a:xfrm>
            <a:off x="6794500" y="4127500"/>
            <a:ext cx="1587500" cy="4826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A292C7-D0F5-6923-8DCF-67D605F461A6}"/>
              </a:ext>
            </a:extLst>
          </p:cNvPr>
          <p:cNvSpPr txBox="1"/>
          <p:nvPr/>
        </p:nvSpPr>
        <p:spPr>
          <a:xfrm>
            <a:off x="6921500" y="4241800"/>
            <a:ext cx="13335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100" b="1">
                <a:solidFill>
                  <a:srgbClr val="16A34A"/>
                </a:solidFill>
                <a:latin typeface="맑은 고딕" panose="020B0503020000020004" pitchFamily="34" charset="-127"/>
              </a:rPr>
              <a:t>Canvas ZOrder</a:t>
            </a:r>
            <a:endParaRPr lang="ko-KR" altLang="en-US" sz="1100" b="1">
              <a:solidFill>
                <a:srgbClr val="16A34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62A004C-0A23-DF45-451F-C18B135105E1}"/>
              </a:ext>
            </a:extLst>
          </p:cNvPr>
          <p:cNvSpPr txBox="1"/>
          <p:nvPr/>
        </p:nvSpPr>
        <p:spPr>
          <a:xfrm>
            <a:off x="2286000" y="4826000"/>
            <a:ext cx="48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475569"/>
                </a:solidFill>
                <a:latin typeface="맑은 고딕" panose="020B0503020000020004" pitchFamily="34" charset="-127"/>
              </a:rPr>
              <a:t>↘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F684BA-6894-4B96-A90E-B399C0DE178B}"/>
              </a:ext>
            </a:extLst>
          </p:cNvPr>
          <p:cNvSpPr txBox="1"/>
          <p:nvPr/>
        </p:nvSpPr>
        <p:spPr>
          <a:xfrm>
            <a:off x="3937000" y="4826000"/>
            <a:ext cx="48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475569"/>
                </a:solidFill>
                <a:latin typeface="맑은 고딕" panose="020B0503020000020004" pitchFamily="34" charset="-127"/>
              </a:rPr>
              <a:t>↓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2D15B28-A7F7-AD18-5C7B-86947C61134E}"/>
              </a:ext>
            </a:extLst>
          </p:cNvPr>
          <p:cNvSpPr txBox="1"/>
          <p:nvPr/>
        </p:nvSpPr>
        <p:spPr>
          <a:xfrm>
            <a:off x="5689600" y="4826000"/>
            <a:ext cx="48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475569"/>
                </a:solidFill>
                <a:latin typeface="맑은 고딕" panose="020B0503020000020004" pitchFamily="34" charset="-127"/>
              </a:rPr>
              <a:t>↓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F12ED2-D632-F722-051E-D13E03C979D6}"/>
              </a:ext>
            </a:extLst>
          </p:cNvPr>
          <p:cNvSpPr txBox="1"/>
          <p:nvPr/>
        </p:nvSpPr>
        <p:spPr>
          <a:xfrm>
            <a:off x="7302500" y="4826000"/>
            <a:ext cx="4826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200" b="1">
                <a:solidFill>
                  <a:srgbClr val="475569"/>
                </a:solidFill>
                <a:latin typeface="맑은 고딕" panose="020B0503020000020004" pitchFamily="34" charset="-127"/>
              </a:rPr>
              <a:t>↙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51C57481-6B70-7529-FC2C-E4D6AB69CE3C}"/>
              </a:ext>
            </a:extLst>
          </p:cNvPr>
          <p:cNvSpPr/>
          <p:nvPr/>
        </p:nvSpPr>
        <p:spPr>
          <a:xfrm>
            <a:off x="2476500" y="5397500"/>
            <a:ext cx="4445000" cy="7874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B368D7F-F6AE-499C-1F20-1C4E897B8289}"/>
              </a:ext>
            </a:extLst>
          </p:cNvPr>
          <p:cNvSpPr txBox="1"/>
          <p:nvPr/>
        </p:nvSpPr>
        <p:spPr>
          <a:xfrm>
            <a:off x="2794000" y="5651500"/>
            <a:ext cx="38100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Open · Focus · Minimize · Restore · Resize · Close</a:t>
            </a:r>
            <a:endParaRPr lang="ko-KR" altLang="en-US" sz="1300" b="1">
              <a:solidFill>
                <a:srgbClr val="16A34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0F7E503-CCEC-7AB2-973E-65F03E8EB413}"/>
              </a:ext>
            </a:extLst>
          </p:cNvPr>
          <p:cNvSpPr txBox="1"/>
          <p:nvPr/>
        </p:nvSpPr>
        <p:spPr>
          <a:xfrm>
            <a:off x="1905000" y="6388100"/>
            <a:ext cx="5588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>
                <a:solidFill>
                  <a:srgbClr val="475569"/>
                </a:solidFill>
                <a:latin typeface="맑은 고딕" panose="020B0503020000020004" pitchFamily="34" charset="-127"/>
              </a:rPr>
              <a:t>단일 팝업이 아니라 창 단위 상태를 관리하는 모니터 </a:t>
            </a:r>
            <a:r>
              <a:rPr lang="en-US" altLang="ko-KR" sz="1200">
                <a:solidFill>
                  <a:srgbClr val="475569"/>
                </a:solidFill>
                <a:latin typeface="맑은 고딕" panose="020B0503020000020004" pitchFamily="34" charset="-127"/>
              </a:rPr>
              <a:t>UI </a:t>
            </a:r>
            <a:r>
              <a:rPr lang="ko-KR" altLang="en-US" sz="1200">
                <a:solidFill>
                  <a:srgbClr val="475569"/>
                </a:solidFill>
                <a:latin typeface="맑은 고딕" panose="020B0503020000020004" pitchFamily="34" charset="-127"/>
              </a:rPr>
              <a:t>기반입니다</a:t>
            </a:r>
            <a:r>
              <a:rPr lang="en-US" altLang="ko-KR" sz="12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8DC88-12B3-F9C9-1F62-CB64194B2761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09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EB0BE53-980B-F3AD-C90E-DC1D9ED645F3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23B4EC8-7015-9AB2-4408-6807D60819F4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11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96C7CBB-409B-CCEA-3C66-FC6C15138EF2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EF8E48-5BF0-7301-B1A7-CCF31C454219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10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F2191F50-5F9B-6D89-CC96-5BFB21EA5016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EEEC13C-A817-CFF0-917E-081B550C0BB6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10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CDA4F82-349E-3461-EFD1-DB9E7B9EFFAA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C69A910-5A5B-EC9E-3545-1F503B414B4B}"/>
              </a:ext>
            </a:extLst>
          </p:cNvPr>
          <p:cNvSpPr txBox="1"/>
          <p:nvPr/>
        </p:nvSpPr>
        <p:spPr>
          <a:xfrm>
            <a:off x="15240000" y="8432800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rgbClr val="94A3B8"/>
                </a:solidFill>
                <a:latin typeface="맑은 고딕" panose="020B0503020000020004" pitchFamily="34" charset="-127"/>
              </a:rPr>
              <a:t>10</a:t>
            </a:r>
            <a:endParaRPr lang="ko-KR" altLang="en-US" sz="700">
              <a:solidFill>
                <a:srgbClr val="94A3B8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35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C654A7-EA46-9C84-BB1D-7AAE497BC201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ITEM CORE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1B421E-8DBF-05DD-7C97-E70BBF67C65F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DataTable / Registry 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기반 콘텐츠 데이터 구조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C00218-7A85-F740-9974-0E9056D94558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가 맵이나 콘텐츠 정보를 직접 들고 있지 않고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식별자와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Registry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를 통해 필요한 데이터를 조회합니다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93C376-080F-1326-9607-D2C14FA12838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4E780CC-BB41-9422-960B-9E684D27F43B}"/>
              </a:ext>
            </a:extLst>
          </p:cNvPr>
          <p:cNvSpPr/>
          <p:nvPr/>
        </p:nvSpPr>
        <p:spPr>
          <a:xfrm>
            <a:off x="736600" y="2413000"/>
            <a:ext cx="5207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E83A2EB-ACC2-F468-AE05-A1CD18E21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16" y="2460867"/>
            <a:ext cx="4010566" cy="2344760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5ADBF4D-55BB-3853-11D8-C009F3761ED2}"/>
              </a:ext>
            </a:extLst>
          </p:cNvPr>
          <p:cNvSpPr/>
          <p:nvPr/>
        </p:nvSpPr>
        <p:spPr>
          <a:xfrm>
            <a:off x="889000" y="4775200"/>
            <a:ext cx="4902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E67360-E98D-2AD7-0973-56F700EB3A0A}"/>
              </a:ext>
            </a:extLst>
          </p:cNvPr>
          <p:cNvSpPr txBox="1"/>
          <p:nvPr/>
        </p:nvSpPr>
        <p:spPr>
          <a:xfrm>
            <a:off x="1041400" y="4838700"/>
            <a:ext cx="4597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Story Item Row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캡처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1695CA3-0A17-1C3A-FBCD-69E6C60D8944}"/>
              </a:ext>
            </a:extLst>
          </p:cNvPr>
          <p:cNvSpPr/>
          <p:nvPr/>
        </p:nvSpPr>
        <p:spPr>
          <a:xfrm>
            <a:off x="736600" y="5651500"/>
            <a:ext cx="5207000" cy="165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322A2CC-2AB3-868D-43EA-088BB6FCE6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6670" y="5811574"/>
            <a:ext cx="3806859" cy="1330853"/>
          </a:xfrm>
          <a:prstGeom prst="rect">
            <a:avLst/>
          </a:prstGeom>
        </p:spPr>
      </p:pic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8E8AB9C-DFB6-AE85-0B35-3118D688CDD6}"/>
              </a:ext>
            </a:extLst>
          </p:cNvPr>
          <p:cNvSpPr/>
          <p:nvPr/>
        </p:nvSpPr>
        <p:spPr>
          <a:xfrm>
            <a:off x="889000" y="6870700"/>
            <a:ext cx="4902200" cy="304800"/>
          </a:xfrm>
          <a:prstGeom prst="round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84929CE-6AE6-187C-5166-DF8189E42BB0}"/>
              </a:ext>
            </a:extLst>
          </p:cNvPr>
          <p:cNvSpPr txBox="1"/>
          <p:nvPr/>
        </p:nvSpPr>
        <p:spPr>
          <a:xfrm>
            <a:off x="1041400" y="6934200"/>
            <a:ext cx="4597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Item </a:t>
            </a:r>
            <a:r>
              <a:rPr lang="ko-KR" altLang="en-US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설정 캡처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611B8B6-A334-A9D6-89CB-24FBB59994B5}"/>
              </a:ext>
            </a:extLst>
          </p:cNvPr>
          <p:cNvSpPr/>
          <p:nvPr/>
        </p:nvSpPr>
        <p:spPr>
          <a:xfrm>
            <a:off x="6731000" y="2413000"/>
            <a:ext cx="8128000" cy="12192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13C2C23-C3E4-4027-A542-233433614DF7}"/>
              </a:ext>
            </a:extLst>
          </p:cNvPr>
          <p:cNvSpPr/>
          <p:nvPr/>
        </p:nvSpPr>
        <p:spPr>
          <a:xfrm>
            <a:off x="6731000" y="2413000"/>
            <a:ext cx="63500" cy="12192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28533C-2966-1FD0-B2B0-C0F2431CDD21}"/>
              </a:ext>
            </a:extLst>
          </p:cNvPr>
          <p:cNvSpPr txBox="1"/>
          <p:nvPr/>
        </p:nvSpPr>
        <p:spPr>
          <a:xfrm>
            <a:off x="6985000" y="2641600"/>
            <a:ext cx="7683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12045E-F952-73D9-93A9-23B35EB2F163}"/>
              </a:ext>
            </a:extLst>
          </p:cNvPr>
          <p:cNvSpPr txBox="1"/>
          <p:nvPr/>
        </p:nvSpPr>
        <p:spPr>
          <a:xfrm>
            <a:off x="6985000" y="3048000"/>
            <a:ext cx="768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콘텐츠 항목이 늘어날수록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와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Actor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에 데이터를 직접 연결하면 누락과 중복을 찾기 어렵습니다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7AB807D3-8D1B-C0E9-1003-AB345D798FA2}"/>
              </a:ext>
            </a:extLst>
          </p:cNvPr>
          <p:cNvSpPr/>
          <p:nvPr/>
        </p:nvSpPr>
        <p:spPr>
          <a:xfrm>
            <a:off x="6731000" y="4064000"/>
            <a:ext cx="8128000" cy="12192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3194BC-993B-95DF-1168-0D10AC513033}"/>
              </a:ext>
            </a:extLst>
          </p:cNvPr>
          <p:cNvSpPr/>
          <p:nvPr/>
        </p:nvSpPr>
        <p:spPr>
          <a:xfrm>
            <a:off x="6731000" y="4064000"/>
            <a:ext cx="63500" cy="12192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D156DE-1D1E-C62A-B766-0D9949729EA9}"/>
              </a:ext>
            </a:extLst>
          </p:cNvPr>
          <p:cNvSpPr txBox="1"/>
          <p:nvPr/>
        </p:nvSpPr>
        <p:spPr>
          <a:xfrm>
            <a:off x="6985000" y="4292600"/>
            <a:ext cx="7683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7C3AED"/>
                </a:solidFill>
                <a:latin typeface="맑은 고딕" panose="020B0503020000020004" pitchFamily="34" charset="-127"/>
              </a:rPr>
              <a:t>어떻게 구현했나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D513D3-FD54-E554-B0E5-F199DF96F636}"/>
              </a:ext>
            </a:extLst>
          </p:cNvPr>
          <p:cNvSpPr txBox="1"/>
          <p:nvPr/>
        </p:nvSpPr>
        <p:spPr>
          <a:xfrm>
            <a:off x="6985000" y="4699000"/>
            <a:ext cx="7683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ItemID, DataTable Row, Registry DataAsset, Editor Picker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를 통해 데이터 등록과 조회 경계를 만들었습니다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24689CF-9E6C-7B3C-1ECC-1BDDE6E30087}"/>
              </a:ext>
            </a:extLst>
          </p:cNvPr>
          <p:cNvSpPr/>
          <p:nvPr/>
        </p:nvSpPr>
        <p:spPr>
          <a:xfrm>
            <a:off x="6731000" y="5715000"/>
            <a:ext cx="8128000" cy="12192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EBC6E4A-17BF-3D80-0DD0-BB512A686626}"/>
              </a:ext>
            </a:extLst>
          </p:cNvPr>
          <p:cNvSpPr/>
          <p:nvPr/>
        </p:nvSpPr>
        <p:spPr>
          <a:xfrm>
            <a:off x="6731000" y="5715000"/>
            <a:ext cx="63500" cy="12192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0E97994-E3CA-C497-2AE2-68EF243904CE}"/>
              </a:ext>
            </a:extLst>
          </p:cNvPr>
          <p:cNvSpPr txBox="1"/>
          <p:nvPr/>
        </p:nvSpPr>
        <p:spPr>
          <a:xfrm>
            <a:off x="6985000" y="5943600"/>
            <a:ext cx="7683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A34A"/>
                </a:solidFill>
                <a:latin typeface="맑은 고딕" panose="020B0503020000020004" pitchFamily="34" charset="-127"/>
              </a:rPr>
              <a:t>얻는 이점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266465-27E1-BB66-8369-2FF67224FE29}"/>
              </a:ext>
            </a:extLst>
          </p:cNvPr>
          <p:cNvSpPr txBox="1"/>
          <p:nvPr/>
        </p:nvSpPr>
        <p:spPr>
          <a:xfrm>
            <a:off x="6985000" y="6350000"/>
            <a:ext cx="76835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새 콘텐츠를 추가할 때 코드 수정보다 데이터 추가와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Registry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검증을 우선할 수 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C1C129D9-6983-FF7C-869D-6BF73ACBBA71}"/>
              </a:ext>
            </a:extLst>
          </p:cNvPr>
          <p:cNvSpPr/>
          <p:nvPr/>
        </p:nvSpPr>
        <p:spPr>
          <a:xfrm>
            <a:off x="6858000" y="7429500"/>
            <a:ext cx="1432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CF8A03-59BC-4957-F460-9EC0E6B5E90D}"/>
              </a:ext>
            </a:extLst>
          </p:cNvPr>
          <p:cNvSpPr txBox="1"/>
          <p:nvPr/>
        </p:nvSpPr>
        <p:spPr>
          <a:xfrm>
            <a:off x="6959600" y="7645400"/>
            <a:ext cx="12293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7C3AED"/>
                </a:solidFill>
                <a:latin typeface="맑은 고딕" panose="020B0503020000020004" pitchFamily="34" charset="-127"/>
              </a:rPr>
              <a:t>ItemID</a:t>
            </a:r>
            <a:endParaRPr lang="ko-KR" altLang="en-US" sz="1200" b="1">
              <a:solidFill>
                <a:srgbClr val="7C3AED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0B9ED42-7B53-8B19-EE2D-61B2BC988C5D}"/>
              </a:ext>
            </a:extLst>
          </p:cNvPr>
          <p:cNvSpPr txBox="1"/>
          <p:nvPr/>
        </p:nvSpPr>
        <p:spPr>
          <a:xfrm>
            <a:off x="8239760" y="7632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3BE0AD85-81FF-024D-3E68-FE3D2DCA900E}"/>
              </a:ext>
            </a:extLst>
          </p:cNvPr>
          <p:cNvSpPr/>
          <p:nvPr/>
        </p:nvSpPr>
        <p:spPr>
          <a:xfrm>
            <a:off x="8468360" y="7429500"/>
            <a:ext cx="1432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C49BF6-37EF-C69B-8ED4-8C95FC670175}"/>
              </a:ext>
            </a:extLst>
          </p:cNvPr>
          <p:cNvSpPr txBox="1"/>
          <p:nvPr/>
        </p:nvSpPr>
        <p:spPr>
          <a:xfrm>
            <a:off x="8569960" y="7645400"/>
            <a:ext cx="12293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7C3AED"/>
                </a:solidFill>
                <a:latin typeface="맑은 고딕" panose="020B0503020000020004" pitchFamily="34" charset="-127"/>
              </a:rPr>
              <a:t>DataTable Row</a:t>
            </a:r>
            <a:endParaRPr lang="ko-KR" altLang="en-US" sz="1200" b="1">
              <a:solidFill>
                <a:srgbClr val="7C3AED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298781-8052-AD78-AB44-4F8E2679B28D}"/>
              </a:ext>
            </a:extLst>
          </p:cNvPr>
          <p:cNvSpPr txBox="1"/>
          <p:nvPr/>
        </p:nvSpPr>
        <p:spPr>
          <a:xfrm>
            <a:off x="9850120" y="7632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D1839EC-BC3E-1D61-B5D1-A17B6AE5495A}"/>
              </a:ext>
            </a:extLst>
          </p:cNvPr>
          <p:cNvSpPr/>
          <p:nvPr/>
        </p:nvSpPr>
        <p:spPr>
          <a:xfrm>
            <a:off x="10078720" y="7429500"/>
            <a:ext cx="143256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7061A0-C0E2-5817-B0DA-F0C710E4A065}"/>
              </a:ext>
            </a:extLst>
          </p:cNvPr>
          <p:cNvSpPr txBox="1"/>
          <p:nvPr/>
        </p:nvSpPr>
        <p:spPr>
          <a:xfrm>
            <a:off x="10180320" y="7645400"/>
            <a:ext cx="12293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7C3AED"/>
                </a:solidFill>
                <a:latin typeface="맑은 고딕" panose="020B0503020000020004" pitchFamily="34" charset="-127"/>
              </a:rPr>
              <a:t>Registry</a:t>
            </a:r>
            <a:endParaRPr lang="ko-KR" altLang="en-US" sz="1200" b="1">
              <a:solidFill>
                <a:srgbClr val="7C3AED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76174B9-2684-841E-252D-4B2B2AB3FE06}"/>
              </a:ext>
            </a:extLst>
          </p:cNvPr>
          <p:cNvSpPr txBox="1"/>
          <p:nvPr/>
        </p:nvSpPr>
        <p:spPr>
          <a:xfrm>
            <a:off x="11460480" y="7632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301439BD-073B-3769-2C86-3E7755C60391}"/>
              </a:ext>
            </a:extLst>
          </p:cNvPr>
          <p:cNvSpPr/>
          <p:nvPr/>
        </p:nvSpPr>
        <p:spPr>
          <a:xfrm>
            <a:off x="11689080" y="7429500"/>
            <a:ext cx="1432561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F0837B-129F-CED6-4B49-2A7DF99B0811}"/>
              </a:ext>
            </a:extLst>
          </p:cNvPr>
          <p:cNvSpPr txBox="1"/>
          <p:nvPr/>
        </p:nvSpPr>
        <p:spPr>
          <a:xfrm>
            <a:off x="11790680" y="7645400"/>
            <a:ext cx="12293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200" b="1">
                <a:solidFill>
                  <a:srgbClr val="7C3AED"/>
                </a:solidFill>
                <a:latin typeface="맑은 고딕" panose="020B0503020000020004" pitchFamily="34" charset="-127"/>
              </a:rPr>
              <a:t>UI </a:t>
            </a:r>
            <a:r>
              <a:rPr lang="ko-KR" altLang="en-US" sz="1200" b="1">
                <a:solidFill>
                  <a:srgbClr val="7C3AED"/>
                </a:solidFill>
                <a:latin typeface="맑은 고딕" panose="020B0503020000020004" pitchFamily="34" charset="-127"/>
              </a:rPr>
              <a:t>조회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8C42F74-6341-47B0-17F8-CEAA845858D6}"/>
              </a:ext>
            </a:extLst>
          </p:cNvPr>
          <p:cNvSpPr txBox="1"/>
          <p:nvPr/>
        </p:nvSpPr>
        <p:spPr>
          <a:xfrm>
            <a:off x="13070839" y="7632700"/>
            <a:ext cx="2286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97CDB9D2-64B6-FF4F-8E1F-25A55F1D4BF7}"/>
              </a:ext>
            </a:extLst>
          </p:cNvPr>
          <p:cNvSpPr/>
          <p:nvPr/>
        </p:nvSpPr>
        <p:spPr>
          <a:xfrm>
            <a:off x="13299439" y="7429500"/>
            <a:ext cx="1432561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D0EE8E6-16AC-A332-2703-BB721D107CA0}"/>
              </a:ext>
            </a:extLst>
          </p:cNvPr>
          <p:cNvSpPr txBox="1"/>
          <p:nvPr/>
        </p:nvSpPr>
        <p:spPr>
          <a:xfrm>
            <a:off x="13401039" y="7645400"/>
            <a:ext cx="122936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7C3AED"/>
                </a:solidFill>
                <a:latin typeface="맑은 고딕" panose="020B0503020000020004" pitchFamily="34" charset="-127"/>
              </a:rPr>
              <a:t>상세 화면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6AC645-E2C0-C6BF-D8A6-B6879836F0DD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10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67E3002-CDB5-EF7F-0E32-C8B6C72F5253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F89A501-B2B4-6E8C-3752-EFABF1251A04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12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5FA4DF5-0576-448B-059B-42F1CAF5335A}"/>
              </a:ext>
            </a:extLst>
          </p:cNvPr>
          <p:cNvSpPr/>
          <p:nvPr/>
        </p:nvSpPr>
        <p:spPr>
          <a:xfrm>
            <a:off x="711200" y="2260600"/>
            <a:ext cx="7112000" cy="41402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7825D18E-7496-A9A9-1E86-71099FCBAFC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514600"/>
            <a:ext cx="6731000" cy="2565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C92BAF02-FE86-6F85-09A3-9BB7D046916C}"/>
              </a:ext>
            </a:extLst>
          </p:cNvPr>
          <p:cNvSpPr txBox="1"/>
          <p:nvPr/>
        </p:nvSpPr>
        <p:spPr>
          <a:xfrm>
            <a:off x="990600" y="5359400"/>
            <a:ext cx="6350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구조 요약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: ItemID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키로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DataTable Row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인덱싱해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UI/Actor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가 직접 데이터를 들고 있지 않도록 분리합니다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8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B3B3A034-D08F-D8F9-89C8-0757BCE33787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3C5C234-83E9-E161-C7C5-35E3A5A3CE34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11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527D109-1BB4-67F1-BAE7-183771D596A9}"/>
              </a:ext>
            </a:extLst>
          </p:cNvPr>
          <p:cNvSpPr/>
          <p:nvPr/>
        </p:nvSpPr>
        <p:spPr>
          <a:xfrm>
            <a:off x="711200" y="2260600"/>
            <a:ext cx="7112000" cy="41402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0" name="그림 49">
            <a:extLst>
              <a:ext uri="{FF2B5EF4-FFF2-40B4-BE49-F238E27FC236}">
                <a16:creationId xmlns:a16="http://schemas.microsoft.com/office/drawing/2014/main" id="{76513A1D-9EFE-B1B4-6379-B68D54EEFB9A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2514600"/>
            <a:ext cx="6731000" cy="256540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02629AB6-4AB0-C604-CBB9-1069B14D403B}"/>
              </a:ext>
            </a:extLst>
          </p:cNvPr>
          <p:cNvSpPr txBox="1"/>
          <p:nvPr/>
        </p:nvSpPr>
        <p:spPr>
          <a:xfrm>
            <a:off x="990600" y="5359400"/>
            <a:ext cx="6350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구조 요약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: ItemID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키로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DataTable Row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를 인덱싱해 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UI/Actor</a:t>
            </a:r>
            <a:r>
              <a:rPr lang="ko-KR" altLang="en-US" sz="850">
                <a:solidFill>
                  <a:srgbClr val="4A566A"/>
                </a:solidFill>
                <a:latin typeface="맑은 고딕" panose="020B0503020000020004" pitchFamily="34" charset="-127"/>
              </a:rPr>
              <a:t>가 직접 데이터를 들고 있지 않도록 분리합니다</a:t>
            </a:r>
            <a:r>
              <a:rPr lang="en-US" altLang="ko-KR" sz="85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85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0FF06C4-E511-FA61-C823-1E3A508A384E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603FCFB-CCBD-ADF7-F64C-2BA68138C4C0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11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68E46E90-FA15-DF2E-BDE9-27432BAF14CA}"/>
              </a:ext>
            </a:extLst>
          </p:cNvPr>
          <p:cNvSpPr/>
          <p:nvPr/>
        </p:nvSpPr>
        <p:spPr>
          <a:xfrm>
            <a:off x="635000" y="2260600"/>
            <a:ext cx="14478000" cy="58674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116ACD47-3278-520A-C62B-5CF9388B52E5}"/>
              </a:ext>
            </a:extLst>
          </p:cNvPr>
          <p:cNvSpPr/>
          <p:nvPr/>
        </p:nvSpPr>
        <p:spPr>
          <a:xfrm>
            <a:off x="736600" y="2349500"/>
            <a:ext cx="14312900" cy="4038600"/>
          </a:xfrm>
          <a:prstGeom prst="roundRect">
            <a:avLst/>
          </a:prstGeom>
          <a:solidFill>
            <a:srgbClr val="F7F9FC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BD89562F-0FA1-C0C0-0572-BB42A3FB129E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0" y="2616200"/>
            <a:ext cx="13817600" cy="3784600"/>
          </a:xfrm>
          <a:prstGeom prst="rect">
            <a:avLst/>
          </a:prstGeom>
        </p:spPr>
      </p:pic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343E65D-2105-65C7-628A-DCB04A9CFEE8}"/>
              </a:ext>
            </a:extLst>
          </p:cNvPr>
          <p:cNvSpPr/>
          <p:nvPr/>
        </p:nvSpPr>
        <p:spPr>
          <a:xfrm>
            <a:off x="736600" y="6794500"/>
            <a:ext cx="4572000" cy="1206500"/>
          </a:xfrm>
          <a:prstGeom prst="roundRect">
            <a:avLst/>
          </a:prstGeom>
          <a:solidFill>
            <a:srgbClr val="FFF7ED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F361C5A2-99DB-7E69-52F5-12D0D8BAC00C}"/>
              </a:ext>
            </a:extLst>
          </p:cNvPr>
          <p:cNvSpPr/>
          <p:nvPr/>
        </p:nvSpPr>
        <p:spPr>
          <a:xfrm>
            <a:off x="736600" y="6794500"/>
            <a:ext cx="63500" cy="1206500"/>
          </a:xfrm>
          <a:prstGeom prst="rect">
            <a:avLst/>
          </a:prstGeom>
          <a:solidFill>
            <a:srgbClr val="F954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9B666B-E5F8-6020-BBB1-A3361776E2B2}"/>
              </a:ext>
            </a:extLst>
          </p:cNvPr>
          <p:cNvSpPr txBox="1"/>
          <p:nvPr/>
        </p:nvSpPr>
        <p:spPr>
          <a:xfrm>
            <a:off x="990600" y="70104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F95418"/>
                </a:solidFill>
                <a:latin typeface="맑은 고딕" panose="020B0503020000020004" pitchFamily="34" charset="-127"/>
              </a:rPr>
              <a:t>문제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0CC249-D640-2907-3274-61EDCE5C6EC6}"/>
              </a:ext>
            </a:extLst>
          </p:cNvPr>
          <p:cNvSpPr txBox="1"/>
          <p:nvPr/>
        </p:nvSpPr>
        <p:spPr>
          <a:xfrm>
            <a:off x="990600" y="74041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콘텐츠 항목이 늘어날수록 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와 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Actor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에 데이터를 직접 연결하면 누락과 중복을 찾기 어렵습니다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730BF65-3AA1-28CD-34C6-C5662AD42E48}"/>
              </a:ext>
            </a:extLst>
          </p:cNvPr>
          <p:cNvSpPr/>
          <p:nvPr/>
        </p:nvSpPr>
        <p:spPr>
          <a:xfrm>
            <a:off x="5842000" y="6794500"/>
            <a:ext cx="4572000" cy="1206500"/>
          </a:xfrm>
          <a:prstGeom prst="roundRect">
            <a:avLst/>
          </a:prstGeom>
          <a:solidFill>
            <a:srgbClr val="F5F3FF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49DB0F70-5356-F1E8-38BE-6C22F2D5DF05}"/>
              </a:ext>
            </a:extLst>
          </p:cNvPr>
          <p:cNvSpPr/>
          <p:nvPr/>
        </p:nvSpPr>
        <p:spPr>
          <a:xfrm>
            <a:off x="5842000" y="6794500"/>
            <a:ext cx="63500" cy="1206500"/>
          </a:xfrm>
          <a:prstGeom prst="rect">
            <a:avLst/>
          </a:prstGeom>
          <a:solidFill>
            <a:srgbClr val="7C3AED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2B7872A-9F7A-1270-69A9-0C0AD64A7588}"/>
              </a:ext>
            </a:extLst>
          </p:cNvPr>
          <p:cNvSpPr txBox="1"/>
          <p:nvPr/>
        </p:nvSpPr>
        <p:spPr>
          <a:xfrm>
            <a:off x="6096000" y="70104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7C3AED"/>
                </a:solidFill>
                <a:latin typeface="맑은 고딕" panose="020B0503020000020004" pitchFamily="34" charset="-127"/>
              </a:rPr>
              <a:t>구조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99BBB5B-22BB-9011-86C3-CD9D40FA6320}"/>
              </a:ext>
            </a:extLst>
          </p:cNvPr>
          <p:cNvSpPr txBox="1"/>
          <p:nvPr/>
        </p:nvSpPr>
        <p:spPr>
          <a:xfrm>
            <a:off x="6096000" y="74041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ItemID, DataTable Row, Registry DataAsset, Editor Picker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를 통해 데이터 등록과 조회를 분리했습니다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28574C85-4281-57B3-18FC-39D0AF756388}"/>
              </a:ext>
            </a:extLst>
          </p:cNvPr>
          <p:cNvSpPr/>
          <p:nvPr/>
        </p:nvSpPr>
        <p:spPr>
          <a:xfrm>
            <a:off x="10947400" y="6794500"/>
            <a:ext cx="4572000" cy="120650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AF3F7B04-C3AE-CAC9-A528-03F92EDF1EDF}"/>
              </a:ext>
            </a:extLst>
          </p:cNvPr>
          <p:cNvSpPr/>
          <p:nvPr/>
        </p:nvSpPr>
        <p:spPr>
          <a:xfrm>
            <a:off x="10947400" y="6794500"/>
            <a:ext cx="63500" cy="1206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A8F150-285D-CC93-27E7-0EF52DD74DC6}"/>
              </a:ext>
            </a:extLst>
          </p:cNvPr>
          <p:cNvSpPr txBox="1"/>
          <p:nvPr/>
        </p:nvSpPr>
        <p:spPr>
          <a:xfrm>
            <a:off x="11201400" y="7010400"/>
            <a:ext cx="4127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6A34A"/>
                </a:solidFill>
                <a:latin typeface="맑은 고딕" panose="020B0503020000020004" pitchFamily="34" charset="-127"/>
              </a:rPr>
              <a:t>효과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26DC8A-0FA3-7237-5731-0362A99872FF}"/>
              </a:ext>
            </a:extLst>
          </p:cNvPr>
          <p:cNvSpPr txBox="1"/>
          <p:nvPr/>
        </p:nvSpPr>
        <p:spPr>
          <a:xfrm>
            <a:off x="11201400" y="7404100"/>
            <a:ext cx="41275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새 콘텐츠 추가 시 코드 수정보다 데이터 추가와 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Registry </a:t>
            </a:r>
            <a:r>
              <a:rPr lang="ko-KR" altLang="en-US" sz="1200">
                <a:solidFill>
                  <a:srgbClr val="4A566A"/>
                </a:solidFill>
                <a:latin typeface="맑은 고딕" panose="020B0503020000020004" pitchFamily="34" charset="-127"/>
              </a:rPr>
              <a:t>검증을 우선할 수 있습니다</a:t>
            </a:r>
            <a:r>
              <a:rPr lang="en-US" altLang="ko-KR" sz="120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5598AAE1-ABCB-4037-D1A1-7AD38D1B1317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C34D2BD-2CE7-82BD-C18C-0F7C8BC35B96}"/>
              </a:ext>
            </a:extLst>
          </p:cNvPr>
          <p:cNvSpPr txBox="1"/>
          <p:nvPr/>
        </p:nvSpPr>
        <p:spPr>
          <a:xfrm>
            <a:off x="15240000" y="8432800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700">
                <a:solidFill>
                  <a:srgbClr val="94A3B8"/>
                </a:solidFill>
                <a:latin typeface="맑은 고딕" panose="020B0503020000020004" pitchFamily="34" charset="-127"/>
              </a:rPr>
              <a:t>11</a:t>
            </a:r>
            <a:endParaRPr lang="ko-KR" altLang="en-US" sz="700">
              <a:solidFill>
                <a:srgbClr val="94A3B8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17548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AC1B6C-08B3-96E3-065A-23684891D47D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SAVE GAME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0DD02-6F58-67C4-4BD9-78F557A8DC40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진행 위치와 저장 정책을 플러그인 경계로 분리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4D04E5-3CA3-2F6F-B74A-7CE133152194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공통 저장 슬롯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key-value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데이터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비동기 저장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로드 정책 위에 프로젝트별 진행 정보를 얹었습니다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241F9F-6685-7679-57AC-833DD43D0A4F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6B4D0DF-034D-6388-767F-1BE3FC658CAF}"/>
              </a:ext>
            </a:extLst>
          </p:cNvPr>
          <p:cNvSpPr/>
          <p:nvPr/>
        </p:nvSpPr>
        <p:spPr>
          <a:xfrm>
            <a:off x="1117600" y="2667000"/>
            <a:ext cx="3302000" cy="3302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DD9CA0-A66D-5CA9-4471-739A88569D1D}"/>
              </a:ext>
            </a:extLst>
          </p:cNvPr>
          <p:cNvSpPr txBox="1"/>
          <p:nvPr/>
        </p:nvSpPr>
        <p:spPr>
          <a:xfrm>
            <a:off x="1549400" y="3111500"/>
            <a:ext cx="2413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2563EB"/>
                </a:solidFill>
                <a:latin typeface="맑은 고딕" panose="020B0503020000020004" pitchFamily="34" charset="-127"/>
              </a:rPr>
              <a:t>공통 저장 경계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1713BC-94D5-B5EF-CBDC-1AB362E573C0}"/>
              </a:ext>
            </a:extLst>
          </p:cNvPr>
          <p:cNvSpPr txBox="1"/>
          <p:nvPr/>
        </p:nvSpPr>
        <p:spPr>
          <a:xfrm>
            <a:off x="1651000" y="3873500"/>
            <a:ext cx="2159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저장 슬롯
</a:t>
            </a:r>
            <a:r>
              <a:rPr lang="en-US" altLang="ko-KR" sz="1700">
                <a:solidFill>
                  <a:srgbClr val="475569"/>
                </a:solidFill>
                <a:latin typeface="맑은 고딕" panose="020B0503020000020004" pitchFamily="34" charset="-127"/>
              </a:rPr>
              <a:t>key-value </a:t>
            </a:r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데이터
비동기 저장 </a:t>
            </a:r>
            <a:r>
              <a:rPr lang="en-US" altLang="ko-KR" sz="1700">
                <a:solidFill>
                  <a:srgbClr val="475569"/>
                </a:solidFill>
                <a:latin typeface="맑은 고딕" panose="020B0503020000020004" pitchFamily="34" charset="-127"/>
              </a:rPr>
              <a:t>/ </a:t>
            </a:r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로드
수정 잠금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9206AE-CD3B-5432-43D2-AC3A9E23FBC8}"/>
              </a:ext>
            </a:extLst>
          </p:cNvPr>
          <p:cNvSpPr txBox="1"/>
          <p:nvPr/>
        </p:nvSpPr>
        <p:spPr>
          <a:xfrm>
            <a:off x="4889500" y="4000500"/>
            <a:ext cx="88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206216-5DDB-5CBA-BD9D-84D8181FBBB6}"/>
              </a:ext>
            </a:extLst>
          </p:cNvPr>
          <p:cNvSpPr/>
          <p:nvPr/>
        </p:nvSpPr>
        <p:spPr>
          <a:xfrm>
            <a:off x="5969000" y="2667000"/>
            <a:ext cx="3302000" cy="3302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16A34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D174B0-4608-71A7-52F2-4F49B53D2ECC}"/>
              </a:ext>
            </a:extLst>
          </p:cNvPr>
          <p:cNvSpPr txBox="1"/>
          <p:nvPr/>
        </p:nvSpPr>
        <p:spPr>
          <a:xfrm>
            <a:off x="6350000" y="3111500"/>
            <a:ext cx="2540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16A34A"/>
                </a:solidFill>
                <a:latin typeface="맑은 고딕" panose="020B0503020000020004" pitchFamily="34" charset="-127"/>
              </a:rPr>
              <a:t>프로젝트 진행 정보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313FA-F7F7-5793-8929-46CC8B12F4A4}"/>
              </a:ext>
            </a:extLst>
          </p:cNvPr>
          <p:cNvSpPr txBox="1"/>
          <p:nvPr/>
        </p:nvSpPr>
        <p:spPr>
          <a:xfrm>
            <a:off x="6629400" y="3873500"/>
            <a:ext cx="2032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현재 </a:t>
            </a:r>
            <a:r>
              <a:rPr lang="en-US" altLang="ko-KR" sz="1700">
                <a:solidFill>
                  <a:srgbClr val="475569"/>
                </a:solidFill>
                <a:latin typeface="맑은 고딕" panose="020B0503020000020004" pitchFamily="34" charset="-127"/>
              </a:rPr>
              <a:t>Scene
</a:t>
            </a:r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현재 </a:t>
            </a:r>
            <a:r>
              <a:rPr lang="en-US" altLang="ko-KR" sz="1700">
                <a:solidFill>
                  <a:srgbClr val="475569"/>
                </a:solidFill>
                <a:latin typeface="맑은 고딕" panose="020B0503020000020004" pitchFamily="34" charset="-127"/>
              </a:rPr>
              <a:t>Shot
</a:t>
            </a:r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이어하기 시작 위치
추가 상태 확장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F9F4774-138C-7DA0-3217-C9F6EB1523CE}"/>
              </a:ext>
            </a:extLst>
          </p:cNvPr>
          <p:cNvSpPr txBox="1"/>
          <p:nvPr/>
        </p:nvSpPr>
        <p:spPr>
          <a:xfrm>
            <a:off x="9715500" y="4000500"/>
            <a:ext cx="889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>
                <a:solidFill>
                  <a:srgbClr val="475569"/>
                </a:solidFill>
                <a:latin typeface="맑은 고딕" panose="020B0503020000020004" pitchFamily="34" charset="-127"/>
              </a:rPr>
              <a:t>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F82249B3-0572-F344-2101-3F517A5CD85A}"/>
              </a:ext>
            </a:extLst>
          </p:cNvPr>
          <p:cNvSpPr/>
          <p:nvPr/>
        </p:nvSpPr>
        <p:spPr>
          <a:xfrm>
            <a:off x="10795000" y="2667000"/>
            <a:ext cx="3810000" cy="3302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ED311D-464B-1DFD-54D7-2F42B7BEA10B}"/>
              </a:ext>
            </a:extLst>
          </p:cNvPr>
          <p:cNvSpPr txBox="1"/>
          <p:nvPr/>
        </p:nvSpPr>
        <p:spPr>
          <a:xfrm>
            <a:off x="11557000" y="3111500"/>
            <a:ext cx="22860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2000" b="1">
                <a:solidFill>
                  <a:srgbClr val="EA580C"/>
                </a:solidFill>
                <a:latin typeface="맑은 고딕" panose="020B0503020000020004" pitchFamily="34" charset="-127"/>
              </a:rPr>
              <a:t>사용자 경험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3FF38A-2C7D-6AB5-E941-E7482BCCA462}"/>
              </a:ext>
            </a:extLst>
          </p:cNvPr>
          <p:cNvSpPr txBox="1"/>
          <p:nvPr/>
        </p:nvSpPr>
        <p:spPr>
          <a:xfrm>
            <a:off x="11684000" y="3873500"/>
            <a:ext cx="2032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게임 시작
이어하기
저장 중 </a:t>
            </a:r>
            <a:r>
              <a:rPr lang="en-US" altLang="ko-KR" sz="1700">
                <a:solidFill>
                  <a:srgbClr val="475569"/>
                </a:solidFill>
                <a:latin typeface="맑은 고딕" panose="020B0503020000020004" pitchFamily="34" charset="-127"/>
              </a:rPr>
              <a:t>UI </a:t>
            </a:r>
            <a:r>
              <a:rPr lang="ko-KR" altLang="en-US" sz="1700">
                <a:solidFill>
                  <a:srgbClr val="475569"/>
                </a:solidFill>
                <a:latin typeface="맑은 고딕" panose="020B0503020000020004" pitchFamily="34" charset="-127"/>
              </a:rPr>
              <a:t>피드백
로드 실패 보호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364CA39-5DD3-B1BE-5C3B-A285BFD92BC9}"/>
              </a:ext>
            </a:extLst>
          </p:cNvPr>
          <p:cNvSpPr/>
          <p:nvPr/>
        </p:nvSpPr>
        <p:spPr>
          <a:xfrm>
            <a:off x="736600" y="6921500"/>
            <a:ext cx="4572000" cy="1524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90188B8-C87B-760D-3EF8-10868F6D7700}"/>
              </a:ext>
            </a:extLst>
          </p:cNvPr>
          <p:cNvSpPr/>
          <p:nvPr/>
        </p:nvSpPr>
        <p:spPr>
          <a:xfrm>
            <a:off x="736600" y="6921500"/>
            <a:ext cx="63500" cy="1524000"/>
          </a:xfrm>
          <a:prstGeom prst="rect">
            <a:avLst/>
          </a:prstGeom>
          <a:solidFill>
            <a:srgbClr val="EA580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E15868-5FE3-CEA4-B6B1-5E945C476118}"/>
              </a:ext>
            </a:extLst>
          </p:cNvPr>
          <p:cNvSpPr txBox="1"/>
          <p:nvPr/>
        </p:nvSpPr>
        <p:spPr>
          <a:xfrm>
            <a:off x="990600" y="71501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EA580C"/>
                </a:solidFill>
                <a:latin typeface="맑은 고딕" panose="020B0503020000020004" pitchFamily="34" charset="-127"/>
              </a:rPr>
              <a:t>왜 만들었나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0CB295-3D41-1E51-BC36-536EB60EC10F}"/>
              </a:ext>
            </a:extLst>
          </p:cNvPr>
          <p:cNvSpPr txBox="1"/>
          <p:nvPr/>
        </p:nvSpPr>
        <p:spPr>
          <a:xfrm>
            <a:off x="990600" y="7556500"/>
            <a:ext cx="412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진행 위치와 저장 데이터가 흩어지면 이어하기와 복구 정책이 불안정해집니다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68E86FB-A6E4-09F4-CED3-19F7A63B6B3F}"/>
              </a:ext>
            </a:extLst>
          </p:cNvPr>
          <p:cNvSpPr/>
          <p:nvPr/>
        </p:nvSpPr>
        <p:spPr>
          <a:xfrm>
            <a:off x="5842000" y="6921500"/>
            <a:ext cx="4572000" cy="1524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5534E379-1915-EC68-4791-BB1E86C48339}"/>
              </a:ext>
            </a:extLst>
          </p:cNvPr>
          <p:cNvSpPr/>
          <p:nvPr/>
        </p:nvSpPr>
        <p:spPr>
          <a:xfrm>
            <a:off x="5842000" y="6921500"/>
            <a:ext cx="63500" cy="15240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547F00-50DD-E910-6FC0-02AC5E67A44C}"/>
              </a:ext>
            </a:extLst>
          </p:cNvPr>
          <p:cNvSpPr txBox="1"/>
          <p:nvPr/>
        </p:nvSpPr>
        <p:spPr>
          <a:xfrm>
            <a:off x="6096000" y="71501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2563EB"/>
                </a:solidFill>
                <a:latin typeface="맑은 고딕" panose="020B0503020000020004" pitchFamily="34" charset="-127"/>
              </a:rPr>
              <a:t>어떻게 구현했나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43D795-064F-2C29-7A8B-9F5FC76C49E6}"/>
              </a:ext>
            </a:extLst>
          </p:cNvPr>
          <p:cNvSpPr txBox="1"/>
          <p:nvPr/>
        </p:nvSpPr>
        <p:spPr>
          <a:xfrm>
            <a:off x="6096000" y="7556500"/>
            <a:ext cx="412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공통 저장 시스템은 안정성 정책을 담당하고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게임 전용 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Save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객체가 진행 정보를 확장합니다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AF4C122-5AE7-D031-F389-6A69DEF3D08A}"/>
              </a:ext>
            </a:extLst>
          </p:cNvPr>
          <p:cNvSpPr/>
          <p:nvPr/>
        </p:nvSpPr>
        <p:spPr>
          <a:xfrm>
            <a:off x="10947400" y="6921500"/>
            <a:ext cx="4572000" cy="1524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C6C73FD-8C33-A8A3-9061-F25F9A59A234}"/>
              </a:ext>
            </a:extLst>
          </p:cNvPr>
          <p:cNvSpPr/>
          <p:nvPr/>
        </p:nvSpPr>
        <p:spPr>
          <a:xfrm>
            <a:off x="10947400" y="6921500"/>
            <a:ext cx="63500" cy="15240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5F3E98-D46E-1EEA-CE23-E315492F587F}"/>
              </a:ext>
            </a:extLst>
          </p:cNvPr>
          <p:cNvSpPr txBox="1"/>
          <p:nvPr/>
        </p:nvSpPr>
        <p:spPr>
          <a:xfrm>
            <a:off x="11201400" y="7150100"/>
            <a:ext cx="41275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500" b="1">
                <a:solidFill>
                  <a:srgbClr val="16A34A"/>
                </a:solidFill>
                <a:latin typeface="맑은 고딕" panose="020B0503020000020004" pitchFamily="34" charset="-127"/>
              </a:rPr>
              <a:t>얻는 이점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4B4721-1C91-3D3B-F1C8-AAE6C4F65098}"/>
              </a:ext>
            </a:extLst>
          </p:cNvPr>
          <p:cNvSpPr txBox="1"/>
          <p:nvPr/>
        </p:nvSpPr>
        <p:spPr>
          <a:xfrm>
            <a:off x="11201400" y="7556500"/>
            <a:ext cx="41275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비동기 중 수정 잠금과 실패 시 기존 데이터 유지 같은 정책을 공통으로 적용할 수 있습니다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1D43922-CE13-C194-C30C-76C9BBDC5617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11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22EE065-243B-6EE4-A844-74E26A490AC9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E8CEE6-5256-3569-629B-B3B3C7610910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13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1CDF9A47-1434-254F-D331-13FB10B7172B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4A8996-E86A-5348-0502-AC3F71910E6C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12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F3F63DA-1520-C980-ED7C-9DF5A87C3CEE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CDF618-FB3E-BBD4-912B-5B953B5475E0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12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0640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FFA90-7E28-A03E-CC3E-503A8418104C}"/>
              </a:ext>
            </a:extLst>
          </p:cNvPr>
          <p:cNvSpPr txBox="1"/>
          <p:nvPr/>
        </p:nvSpPr>
        <p:spPr>
          <a:xfrm>
            <a:off x="736600" y="482600"/>
            <a:ext cx="3302000" cy="15645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850">
                <a:solidFill>
                  <a:srgbClr val="FF5B18"/>
                </a:solidFill>
                <a:latin typeface="맑은 고딕" panose="020B0503020000020004" pitchFamily="34" charset="-127"/>
              </a:rPr>
              <a:t>OPTIMIZATION</a:t>
            </a:r>
            <a:endParaRPr lang="ko-KR" altLang="en-US" sz="850">
              <a:solidFill>
                <a:srgbClr val="FF5B18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FA3A6-6AE9-5930-89E6-19A21673990B}"/>
              </a:ext>
            </a:extLst>
          </p:cNvPr>
          <p:cNvSpPr txBox="1"/>
          <p:nvPr/>
        </p:nvSpPr>
        <p:spPr>
          <a:xfrm>
            <a:off x="736600" y="914400"/>
            <a:ext cx="10414000" cy="32573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1950" b="1">
                <a:solidFill>
                  <a:srgbClr val="121B2C"/>
                </a:solidFill>
                <a:latin typeface="맑은 고딕" panose="020B0503020000020004" pitchFamily="34" charset="-127"/>
              </a:rPr>
              <a:t>런타임 비용과 상태 경합을 줄인 최적화 사례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3FAAB-B825-802B-47FA-63E06CDE68A2}"/>
              </a:ext>
            </a:extLst>
          </p:cNvPr>
          <p:cNvSpPr txBox="1"/>
          <p:nvPr/>
        </p:nvSpPr>
        <p:spPr>
          <a:xfrm>
            <a:off x="749300" y="1536700"/>
            <a:ext cx="12192000" cy="17645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980">
                <a:solidFill>
                  <a:srgbClr val="4A566A"/>
                </a:solidFill>
                <a:latin typeface="맑은 고딕" panose="020B0503020000020004" pitchFamily="34" charset="-127"/>
              </a:rPr>
              <a:t>상호작용 탐색은 필요할 때만 갱신하고</a:t>
            </a:r>
            <a:r>
              <a:rPr lang="en-US" altLang="ko-KR" sz="980">
                <a:solidFill>
                  <a:srgbClr val="4A566A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980">
                <a:solidFill>
                  <a:srgbClr val="4A566A"/>
                </a:solidFill>
                <a:latin typeface="맑은 고딕" panose="020B0503020000020004" pitchFamily="34" charset="-127"/>
              </a:rPr>
              <a:t>비동기 저장 중에는 데이터 수정을 잠가 안정성을 확보했습니다</a:t>
            </a:r>
            <a:r>
              <a:rPr lang="en-US" altLang="ko-KR" sz="98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9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04E1BC0-B02A-6039-0B32-6CE36441CC02}"/>
              </a:ext>
            </a:extLst>
          </p:cNvPr>
          <p:cNvSpPr/>
          <p:nvPr/>
        </p:nvSpPr>
        <p:spPr>
          <a:xfrm>
            <a:off x="736600" y="1955800"/>
            <a:ext cx="14782800" cy="12700"/>
          </a:xfrm>
          <a:prstGeom prst="rect">
            <a:avLst/>
          </a:prstGeom>
          <a:solidFill>
            <a:srgbClr val="DEE4E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4FC9114-20AE-5D05-7F7D-9D494EAC8650}"/>
              </a:ext>
            </a:extLst>
          </p:cNvPr>
          <p:cNvSpPr/>
          <p:nvPr/>
        </p:nvSpPr>
        <p:spPr>
          <a:xfrm>
            <a:off x="1041400" y="2413000"/>
            <a:ext cx="6604000" cy="4267200"/>
          </a:xfrm>
          <a:prstGeom prst="roundRect">
            <a:avLst/>
          </a:prstGeom>
          <a:solidFill>
            <a:srgbClr val="F1FFF6"/>
          </a:solidFill>
          <a:ln w="12700">
            <a:solidFill>
              <a:srgbClr val="D1F1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60D29CC-F6B1-7765-1211-5E5D62CDBCF3}"/>
              </a:ext>
            </a:extLst>
          </p:cNvPr>
          <p:cNvSpPr/>
          <p:nvPr/>
        </p:nvSpPr>
        <p:spPr>
          <a:xfrm>
            <a:off x="1041400" y="2413000"/>
            <a:ext cx="50800" cy="4267200"/>
          </a:xfrm>
          <a:prstGeom prst="rect">
            <a:avLst/>
          </a:prstGeom>
          <a:solidFill>
            <a:srgbClr val="00A64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ADA0DC-94B1-5708-3CAA-EF6AF5AB2AD7}"/>
              </a:ext>
            </a:extLst>
          </p:cNvPr>
          <p:cNvSpPr txBox="1"/>
          <p:nvPr/>
        </p:nvSpPr>
        <p:spPr>
          <a:xfrm>
            <a:off x="1371600" y="2717800"/>
            <a:ext cx="4064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1200" b="1">
                <a:solidFill>
                  <a:srgbClr val="00A649"/>
                </a:solidFill>
                <a:latin typeface="맑은 고딕" panose="020B0503020000020004" pitchFamily="34" charset="-127"/>
              </a:rPr>
              <a:t>CASE A. Interaction Tick Gating</a:t>
            </a:r>
            <a:endParaRPr lang="ko-KR" altLang="en-US" sz="1200" b="1">
              <a:solidFill>
                <a:srgbClr val="00A64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4FF21C-79A7-FA41-D70B-D1C9E96B80DF}"/>
              </a:ext>
            </a:extLst>
          </p:cNvPr>
          <p:cNvSpPr txBox="1"/>
          <p:nvPr/>
        </p:nvSpPr>
        <p:spPr>
          <a:xfrm>
            <a:off x="1371600" y="3149600"/>
            <a:ext cx="5461000" cy="1749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970">
                <a:solidFill>
                  <a:srgbClr val="4A566A"/>
                </a:solidFill>
                <a:latin typeface="맑은 고딕" panose="020B0503020000020004" pitchFamily="34" charset="-127"/>
              </a:rPr>
              <a:t>후보 </a:t>
            </a:r>
            <a:r>
              <a:rPr lang="en-US" altLang="ko-KR" sz="970">
                <a:solidFill>
                  <a:srgbClr val="4A566A"/>
                </a:solidFill>
                <a:latin typeface="맑은 고딕" panose="020B0503020000020004" pitchFamily="34" charset="-127"/>
              </a:rPr>
              <a:t>Actor</a:t>
            </a:r>
            <a:r>
              <a:rPr lang="ko-KR" altLang="en-US" sz="970">
                <a:solidFill>
                  <a:srgbClr val="4A566A"/>
                </a:solidFill>
                <a:latin typeface="맑은 고딕" panose="020B0503020000020004" pitchFamily="34" charset="-127"/>
              </a:rPr>
              <a:t>가 없을 때 거리</a:t>
            </a:r>
            <a:r>
              <a:rPr lang="en-US" altLang="ko-KR" sz="970">
                <a:solidFill>
                  <a:srgbClr val="4A566A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970">
                <a:solidFill>
                  <a:srgbClr val="4A566A"/>
                </a:solidFill>
                <a:latin typeface="맑은 고딕" panose="020B0503020000020004" pitchFamily="34" charset="-127"/>
              </a:rPr>
              <a:t>시야 판정을 계속 돌리지 않도록 </a:t>
            </a:r>
            <a:r>
              <a:rPr lang="en-US" altLang="ko-KR" sz="970">
                <a:solidFill>
                  <a:srgbClr val="4A566A"/>
                </a:solidFill>
                <a:latin typeface="맑은 고딕" panose="020B0503020000020004" pitchFamily="34" charset="-127"/>
              </a:rPr>
              <a:t>Tick</a:t>
            </a:r>
            <a:r>
              <a:rPr lang="ko-KR" altLang="en-US" sz="970">
                <a:solidFill>
                  <a:srgbClr val="4A566A"/>
                </a:solidFill>
                <a:latin typeface="맑은 고딕" panose="020B0503020000020004" pitchFamily="34" charset="-127"/>
              </a:rPr>
              <a:t>을 꺼둡니다</a:t>
            </a:r>
            <a:r>
              <a:rPr lang="en-US" altLang="ko-KR" sz="97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97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4DC196-12C0-3F45-C6C9-F2D8F6B4826D}"/>
              </a:ext>
            </a:extLst>
          </p:cNvPr>
          <p:cNvSpPr txBox="1"/>
          <p:nvPr/>
        </p:nvSpPr>
        <p:spPr>
          <a:xfrm>
            <a:off x="1371600" y="6362700"/>
            <a:ext cx="5334000" cy="14106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750">
                <a:solidFill>
                  <a:srgbClr val="64748B"/>
                </a:solidFill>
                <a:latin typeface="Consolas" panose="020B0609020204030204" pitchFamily="49" charset="0"/>
              </a:rPr>
              <a:t>실제 구현</a:t>
            </a:r>
            <a:r>
              <a:rPr lang="en-US" altLang="ko-KR" sz="750">
                <a:solidFill>
                  <a:srgbClr val="64748B"/>
                </a:solidFill>
                <a:latin typeface="Consolas" panose="020B0609020204030204" pitchFamily="49" charset="0"/>
              </a:rPr>
              <a:t>: InteractorComponent.cpp:17-21, 136-151, 191-195</a:t>
            </a:r>
            <a:endParaRPr lang="ko-KR" altLang="en-US" sz="75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65220AFA-B2DC-67FD-0305-AC21B861BB1A}"/>
              </a:ext>
            </a:extLst>
          </p:cNvPr>
          <p:cNvSpPr/>
          <p:nvPr/>
        </p:nvSpPr>
        <p:spPr>
          <a:xfrm>
            <a:off x="8610600" y="2413000"/>
            <a:ext cx="6604000" cy="4267200"/>
          </a:xfrm>
          <a:prstGeom prst="roundRect">
            <a:avLst/>
          </a:prstGeom>
          <a:solidFill>
            <a:srgbClr val="F1F7FF"/>
          </a:solidFill>
          <a:ln w="12700">
            <a:solidFill>
              <a:srgbClr val="DAE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21E694-37F9-40B4-7A86-0F345D0D1601}"/>
              </a:ext>
            </a:extLst>
          </p:cNvPr>
          <p:cNvSpPr/>
          <p:nvPr/>
        </p:nvSpPr>
        <p:spPr>
          <a:xfrm>
            <a:off x="8610600" y="2413000"/>
            <a:ext cx="50800" cy="4267200"/>
          </a:xfrm>
          <a:prstGeom prst="rect">
            <a:avLst/>
          </a:prstGeom>
          <a:solidFill>
            <a:srgbClr val="2561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A46E87-3D18-5260-0FB9-48E4801C93E1}"/>
              </a:ext>
            </a:extLst>
          </p:cNvPr>
          <p:cNvSpPr txBox="1"/>
          <p:nvPr/>
        </p:nvSpPr>
        <p:spPr>
          <a:xfrm>
            <a:off x="8940800" y="2717800"/>
            <a:ext cx="4064000" cy="21031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1200" b="1">
                <a:solidFill>
                  <a:srgbClr val="2561FF"/>
                </a:solidFill>
                <a:latin typeface="맑은 고딕" panose="020B0503020000020004" pitchFamily="34" charset="-127"/>
              </a:rPr>
              <a:t>CASE B. Async Save Lock</a:t>
            </a:r>
            <a:endParaRPr lang="ko-KR" altLang="en-US" sz="1200" b="1">
              <a:solidFill>
                <a:srgbClr val="2561FF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9410B70-D0D5-EC42-ECE1-5506DEB4E1ED}"/>
              </a:ext>
            </a:extLst>
          </p:cNvPr>
          <p:cNvSpPr txBox="1"/>
          <p:nvPr/>
        </p:nvSpPr>
        <p:spPr>
          <a:xfrm>
            <a:off x="8940800" y="3149600"/>
            <a:ext cx="5461000" cy="1749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970">
                <a:solidFill>
                  <a:srgbClr val="4A566A"/>
                </a:solidFill>
                <a:latin typeface="맑은 고딕" panose="020B0503020000020004" pitchFamily="34" charset="-127"/>
              </a:rPr>
              <a:t>저장</a:t>
            </a:r>
            <a:r>
              <a:rPr lang="en-US" altLang="ko-KR" sz="970">
                <a:solidFill>
                  <a:srgbClr val="4A566A"/>
                </a:solidFill>
                <a:latin typeface="맑은 고딕" panose="020B0503020000020004" pitchFamily="34" charset="-127"/>
              </a:rPr>
              <a:t>/</a:t>
            </a:r>
            <a:r>
              <a:rPr lang="ko-KR" altLang="en-US" sz="970">
                <a:solidFill>
                  <a:srgbClr val="4A566A"/>
                </a:solidFill>
                <a:latin typeface="맑은 고딕" panose="020B0503020000020004" pitchFamily="34" charset="-127"/>
              </a:rPr>
              <a:t>로드 중 </a:t>
            </a:r>
            <a:r>
              <a:rPr lang="en-US" altLang="ko-KR" sz="970">
                <a:solidFill>
                  <a:srgbClr val="4A566A"/>
                </a:solidFill>
                <a:latin typeface="맑은 고딕" panose="020B0503020000020004" pitchFamily="34" charset="-127"/>
              </a:rPr>
              <a:t>SaveGame</a:t>
            </a:r>
            <a:r>
              <a:rPr lang="ko-KR" altLang="en-US" sz="970">
                <a:solidFill>
                  <a:srgbClr val="4A566A"/>
                </a:solidFill>
                <a:latin typeface="맑은 고딕" panose="020B0503020000020004" pitchFamily="34" charset="-127"/>
              </a:rPr>
              <a:t>이 수정되면 이어하기 상태가 불안정해질 수 있습니다</a:t>
            </a:r>
            <a:r>
              <a:rPr lang="en-US" altLang="ko-KR" sz="970">
                <a:solidFill>
                  <a:srgbClr val="4A566A"/>
                </a:solidFill>
                <a:latin typeface="맑은 고딕" panose="020B0503020000020004" pitchFamily="34" charset="-127"/>
              </a:rPr>
              <a:t>.</a:t>
            </a:r>
            <a:endParaRPr lang="ko-KR" altLang="en-US" sz="97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8FC26E-B68F-EA59-1125-37EFD11B239A}"/>
              </a:ext>
            </a:extLst>
          </p:cNvPr>
          <p:cNvSpPr txBox="1"/>
          <p:nvPr/>
        </p:nvSpPr>
        <p:spPr>
          <a:xfrm>
            <a:off x="8940800" y="6362700"/>
            <a:ext cx="5334000" cy="14106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ko-KR" altLang="en-US" sz="750">
                <a:solidFill>
                  <a:srgbClr val="64748B"/>
                </a:solidFill>
                <a:latin typeface="Consolas" panose="020B0609020204030204" pitchFamily="49" charset="0"/>
              </a:rPr>
              <a:t>실제 구현</a:t>
            </a:r>
            <a:r>
              <a:rPr lang="en-US" altLang="ko-KR" sz="750">
                <a:solidFill>
                  <a:srgbClr val="64748B"/>
                </a:solidFill>
                <a:latin typeface="Consolas" panose="020B0609020204030204" pitchFamily="49" charset="0"/>
              </a:rPr>
              <a:t>: SaveGameSubsystem.cpp:163-234</a:t>
            </a:r>
            <a:endParaRPr lang="ko-KR" altLang="en-US" sz="750">
              <a:solidFill>
                <a:srgbClr val="64748B"/>
              </a:solidFill>
              <a:latin typeface="Consolas" panose="020B0609020204030204" pitchFamily="49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8050CCF-093B-94C0-7B7F-E24069E12C1F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F1B22AB3-FA04-1DFA-EFD0-7CC275053D08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633A1A4-2733-ACD8-A549-B5884DFE7EAA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13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5A53B27-AF9C-BBCF-05BE-BF6A7C4EE00C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5EE417-F659-DBDD-D7A9-0525FBF0AF9B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13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1FF909-3CDE-744F-636F-21FECB342501}"/>
              </a:ext>
            </a:extLst>
          </p:cNvPr>
          <p:cNvSpPr txBox="1"/>
          <p:nvPr/>
        </p:nvSpPr>
        <p:spPr>
          <a:xfrm>
            <a:off x="3022600" y="7467600"/>
            <a:ext cx="10287000" cy="18466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ko-KR" altLang="en-US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후보가 생기면 </a:t>
            </a:r>
            <a:r>
              <a:rPr lang="en-US" altLang="ko-KR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Tick </a:t>
            </a:r>
            <a:r>
              <a:rPr lang="ko-KR" altLang="en-US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활성화</a:t>
            </a:r>
            <a:r>
              <a:rPr lang="en-US" altLang="ko-KR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저장 중에는 </a:t>
            </a:r>
            <a:r>
              <a:rPr lang="en-US" altLang="ko-KR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SaveGame </a:t>
            </a:r>
            <a:r>
              <a:rPr lang="ko-KR" altLang="en-US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수정을 잠가 상태 경합을 막습니다</a:t>
            </a:r>
            <a:r>
              <a:rPr lang="en-US" altLang="ko-KR" sz="1200" b="1">
                <a:solidFill>
                  <a:srgbClr val="121B2C"/>
                </a:solidFill>
                <a:latin typeface="맑은 고딕" panose="020B0503020000020004" pitchFamily="34" charset="-127"/>
              </a:rPr>
              <a:t>.</a:t>
            </a:r>
            <a:endParaRPr lang="ko-KR" altLang="en-US" sz="1200" b="1">
              <a:solidFill>
                <a:srgbClr val="121B2C"/>
              </a:solidFill>
              <a:latin typeface="맑은 고딕" panose="020B0503020000020004" pitchFamily="34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D9E1BC-0747-2422-954D-FF7E76F63EA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600" y="3606800"/>
            <a:ext cx="5715000" cy="26289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981BF15-2F3F-8DB0-7C15-99909C30538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800" y="3606800"/>
            <a:ext cx="5715000" cy="262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9554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ACF341-7800-ADD1-A0E2-F477F1FBD099}"/>
              </a:ext>
            </a:extLst>
          </p:cNvPr>
          <p:cNvSpPr txBox="1"/>
          <p:nvPr/>
        </p:nvSpPr>
        <p:spPr>
          <a:xfrm>
            <a:off x="736600" y="482600"/>
            <a:ext cx="5334000" cy="14619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950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AUTOMATION</a:t>
            </a:r>
            <a:endParaRPr lang="ko-KR" altLang="en-US" sz="950">
              <a:solidFill>
                <a:srgbClr val="F9541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405115-1979-E046-88D8-D9BB9329A34B}"/>
              </a:ext>
            </a:extLst>
          </p:cNvPr>
          <p:cNvSpPr txBox="1"/>
          <p:nvPr/>
        </p:nvSpPr>
        <p:spPr>
          <a:xfrm>
            <a:off x="736600" y="889000"/>
            <a:ext cx="1079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400" b="1">
                <a:solidFill>
                  <a:srgbClr val="121B2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반복 개발 루틴 자동화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A4E3E-9DA7-521C-FD1C-B18E66A1EED6}"/>
              </a:ext>
            </a:extLst>
          </p:cNvPr>
          <p:cNvSpPr txBox="1"/>
          <p:nvPr/>
        </p:nvSpPr>
        <p:spPr>
          <a:xfrm>
            <a:off x="736600" y="1498600"/>
            <a:ext cx="12446000" cy="16158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동기화</a:t>
            </a:r>
            <a:r>
              <a:rPr lang="en-US" altLang="ko-KR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프로젝트 파일 생성</a:t>
            </a:r>
            <a:r>
              <a:rPr lang="en-US" altLang="ko-KR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빌드</a:t>
            </a:r>
            <a:r>
              <a:rPr lang="en-US" altLang="ko-KR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실행처럼 반복되는 절차를 묶어 작업 전환 비용을 줄였습니다</a:t>
            </a:r>
            <a:r>
              <a:rPr lang="en-US" altLang="ko-KR" sz="105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1050">
              <a:solidFill>
                <a:srgbClr val="4A56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887014-9B62-2ACF-2BB1-8C1975E24C75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C386CCD-8C24-1598-5892-78D755C8920D}"/>
              </a:ext>
            </a:extLst>
          </p:cNvPr>
          <p:cNvSpPr/>
          <p:nvPr/>
        </p:nvSpPr>
        <p:spPr>
          <a:xfrm>
            <a:off x="4191000" y="2133600"/>
            <a:ext cx="7874000" cy="508000"/>
          </a:xfrm>
          <a:prstGeom prst="roundRect">
            <a:avLst/>
          </a:prstGeom>
          <a:solidFill>
            <a:srgbClr val="FFFBEB"/>
          </a:solidFill>
          <a:ln w="11430">
            <a:solidFill>
              <a:srgbClr val="F954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CD7680-F085-D67E-9F46-803B9386B89C}"/>
              </a:ext>
            </a:extLst>
          </p:cNvPr>
          <p:cNvSpPr txBox="1"/>
          <p:nvPr/>
        </p:nvSpPr>
        <p:spPr>
          <a:xfrm>
            <a:off x="4445000" y="2273300"/>
            <a:ext cx="7366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250" b="1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자동화 스크립트로 반복 개발 루틴 단순화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D5BE49CD-6461-52EE-1FC1-C1630DFF8827}"/>
              </a:ext>
            </a:extLst>
          </p:cNvPr>
          <p:cNvSpPr/>
          <p:nvPr/>
        </p:nvSpPr>
        <p:spPr>
          <a:xfrm>
            <a:off x="1270000" y="2794000"/>
            <a:ext cx="260350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954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43F8DE-3E6E-E4D9-86D7-31AEEE6F69BD}"/>
              </a:ext>
            </a:extLst>
          </p:cNvPr>
          <p:cNvSpPr txBox="1"/>
          <p:nvPr/>
        </p:nvSpPr>
        <p:spPr>
          <a:xfrm>
            <a:off x="1397000" y="3022600"/>
            <a:ext cx="234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최신 소스 동기화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011AA1-AA76-ECF5-F7F3-1B9FFB41F3DB}"/>
              </a:ext>
            </a:extLst>
          </p:cNvPr>
          <p:cNvSpPr txBox="1"/>
          <p:nvPr/>
        </p:nvSpPr>
        <p:spPr>
          <a:xfrm>
            <a:off x="3886200" y="3009900"/>
            <a:ext cx="228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64748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522C5D8B-7FF2-AB14-2AC1-5F054DC738DE}"/>
              </a:ext>
            </a:extLst>
          </p:cNvPr>
          <p:cNvSpPr/>
          <p:nvPr/>
        </p:nvSpPr>
        <p:spPr>
          <a:xfrm>
            <a:off x="4051300" y="2794000"/>
            <a:ext cx="260350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954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A0DDDA-7F61-DE04-39D3-947644A45935}"/>
              </a:ext>
            </a:extLst>
          </p:cNvPr>
          <p:cNvSpPr txBox="1"/>
          <p:nvPr/>
        </p:nvSpPr>
        <p:spPr>
          <a:xfrm>
            <a:off x="4178300" y="3022600"/>
            <a:ext cx="234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플러그인 갱신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58FF402-BEFC-9952-46E3-14BEDA43FDE0}"/>
              </a:ext>
            </a:extLst>
          </p:cNvPr>
          <p:cNvSpPr txBox="1"/>
          <p:nvPr/>
        </p:nvSpPr>
        <p:spPr>
          <a:xfrm>
            <a:off x="6667500" y="3009900"/>
            <a:ext cx="228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64748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B93322BD-F5D3-45AC-2854-1E25FCE5F0C8}"/>
              </a:ext>
            </a:extLst>
          </p:cNvPr>
          <p:cNvSpPr/>
          <p:nvPr/>
        </p:nvSpPr>
        <p:spPr>
          <a:xfrm>
            <a:off x="6832600" y="2794000"/>
            <a:ext cx="260350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954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498AE1-EC97-2084-632C-804846A181E0}"/>
              </a:ext>
            </a:extLst>
          </p:cNvPr>
          <p:cNvSpPr txBox="1"/>
          <p:nvPr/>
        </p:nvSpPr>
        <p:spPr>
          <a:xfrm>
            <a:off x="6959600" y="3022600"/>
            <a:ext cx="234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프로젝트 파일 생성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7B7AAC-392E-BF82-4E26-C43C0CD9EC89}"/>
              </a:ext>
            </a:extLst>
          </p:cNvPr>
          <p:cNvSpPr txBox="1"/>
          <p:nvPr/>
        </p:nvSpPr>
        <p:spPr>
          <a:xfrm>
            <a:off x="9448800" y="3009900"/>
            <a:ext cx="228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64748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4C072875-5B2E-957F-7366-706CEE83EA8A}"/>
              </a:ext>
            </a:extLst>
          </p:cNvPr>
          <p:cNvSpPr/>
          <p:nvPr/>
        </p:nvSpPr>
        <p:spPr>
          <a:xfrm>
            <a:off x="9613900" y="2794000"/>
            <a:ext cx="260350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954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9C05A3-2BC1-0AF7-9EE5-03905C91F680}"/>
              </a:ext>
            </a:extLst>
          </p:cNvPr>
          <p:cNvSpPr txBox="1"/>
          <p:nvPr/>
        </p:nvSpPr>
        <p:spPr>
          <a:xfrm>
            <a:off x="9740900" y="3022600"/>
            <a:ext cx="234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빌드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C8A8A5-FE2D-B93E-062E-2F60C23E7EFF}"/>
              </a:ext>
            </a:extLst>
          </p:cNvPr>
          <p:cNvSpPr txBox="1"/>
          <p:nvPr/>
        </p:nvSpPr>
        <p:spPr>
          <a:xfrm>
            <a:off x="12230100" y="3009900"/>
            <a:ext cx="2286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300">
                <a:solidFill>
                  <a:srgbClr val="64748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→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6B7E0A52-3BCE-B734-16E8-988C8360A9CF}"/>
              </a:ext>
            </a:extLst>
          </p:cNvPr>
          <p:cNvSpPr/>
          <p:nvPr/>
        </p:nvSpPr>
        <p:spPr>
          <a:xfrm>
            <a:off x="12395200" y="2794000"/>
            <a:ext cx="2603500" cy="6858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F954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166208-8057-E682-663A-C120D08A0C89}"/>
              </a:ext>
            </a:extLst>
          </p:cNvPr>
          <p:cNvSpPr txBox="1"/>
          <p:nvPr/>
        </p:nvSpPr>
        <p:spPr>
          <a:xfrm>
            <a:off x="12522200" y="3022600"/>
            <a:ext cx="23495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150" b="1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에디터 실행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B3FB68A-C42B-9CA1-A590-A367ADDC8B91}"/>
              </a:ext>
            </a:extLst>
          </p:cNvPr>
          <p:cNvSpPr/>
          <p:nvPr/>
        </p:nvSpPr>
        <p:spPr>
          <a:xfrm>
            <a:off x="1244600" y="4572000"/>
            <a:ext cx="4064000" cy="1752600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000C7CF-4B62-7E85-99DF-D9EA2382E66B}"/>
              </a:ext>
            </a:extLst>
          </p:cNvPr>
          <p:cNvSpPr/>
          <p:nvPr/>
        </p:nvSpPr>
        <p:spPr>
          <a:xfrm>
            <a:off x="1244600" y="4572000"/>
            <a:ext cx="63500" cy="1752600"/>
          </a:xfrm>
          <a:prstGeom prst="rect">
            <a:avLst/>
          </a:prstGeom>
          <a:solidFill>
            <a:srgbClr val="F9541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FF80CF-12C2-EAF2-8AE0-3E2F41FFAC90}"/>
              </a:ext>
            </a:extLst>
          </p:cNvPr>
          <p:cNvSpPr txBox="1"/>
          <p:nvPr/>
        </p:nvSpPr>
        <p:spPr>
          <a:xfrm>
            <a:off x="1498600" y="4775200"/>
            <a:ext cx="3619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F9541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왜 만들었나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76C86AF-0248-7CF8-1184-F5FD757CBE5A}"/>
              </a:ext>
            </a:extLst>
          </p:cNvPr>
          <p:cNvSpPr txBox="1"/>
          <p:nvPr/>
        </p:nvSpPr>
        <p:spPr>
          <a:xfrm>
            <a:off x="1498600" y="5207000"/>
            <a:ext cx="3619500" cy="3754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UE 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프로젝트는 플러그인 갱신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프로젝트 파일 재생성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빌드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실행 반복이 자주 발생합니다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1220">
              <a:solidFill>
                <a:srgbClr val="4A56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047554EC-354D-09A0-7546-4CDD689A22F1}"/>
              </a:ext>
            </a:extLst>
          </p:cNvPr>
          <p:cNvSpPr/>
          <p:nvPr/>
        </p:nvSpPr>
        <p:spPr>
          <a:xfrm>
            <a:off x="6096000" y="4572000"/>
            <a:ext cx="4064000" cy="1752600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0E6DEF6-7565-7E2A-C18A-1ED9EAF598C1}"/>
              </a:ext>
            </a:extLst>
          </p:cNvPr>
          <p:cNvSpPr/>
          <p:nvPr/>
        </p:nvSpPr>
        <p:spPr>
          <a:xfrm>
            <a:off x="6096000" y="4572000"/>
            <a:ext cx="63500" cy="17526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9A3AE6-F642-7FE6-992B-029B6D212FD1}"/>
              </a:ext>
            </a:extLst>
          </p:cNvPr>
          <p:cNvSpPr txBox="1"/>
          <p:nvPr/>
        </p:nvSpPr>
        <p:spPr>
          <a:xfrm>
            <a:off x="6350000" y="4775200"/>
            <a:ext cx="3619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2563EB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어떻게 구성했나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B1B7112-ADBB-10B1-2AF7-C23953873BB7}"/>
              </a:ext>
            </a:extLst>
          </p:cNvPr>
          <p:cNvSpPr txBox="1"/>
          <p:nvPr/>
        </p:nvSpPr>
        <p:spPr>
          <a:xfrm>
            <a:off x="6350000" y="5207000"/>
            <a:ext cx="3619500" cy="3754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Windows 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환경에서 자주 쓰는 절차를 스크립트로 묶고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동기화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생성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빌드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·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실행 책임을 나눴습니다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1220">
              <a:solidFill>
                <a:srgbClr val="4A56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992CE80A-E71F-5204-0D4C-34A76BE5188D}"/>
              </a:ext>
            </a:extLst>
          </p:cNvPr>
          <p:cNvSpPr/>
          <p:nvPr/>
        </p:nvSpPr>
        <p:spPr>
          <a:xfrm>
            <a:off x="10947400" y="4572000"/>
            <a:ext cx="4064000" cy="1752600"/>
          </a:xfrm>
          <a:prstGeom prst="roundRect">
            <a:avLst/>
          </a:prstGeom>
          <a:solidFill>
            <a:srgbClr val="F0FDF4"/>
          </a:solidFill>
          <a:ln w="11430">
            <a:solidFill>
              <a:srgbClr val="CBD5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339BF10-4218-FF83-CF18-E7DD47295E5D}"/>
              </a:ext>
            </a:extLst>
          </p:cNvPr>
          <p:cNvSpPr/>
          <p:nvPr/>
        </p:nvSpPr>
        <p:spPr>
          <a:xfrm>
            <a:off x="10947400" y="4572000"/>
            <a:ext cx="63500" cy="17526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A269B92-EBB2-FB29-0472-1E7A5376132F}"/>
              </a:ext>
            </a:extLst>
          </p:cNvPr>
          <p:cNvSpPr txBox="1"/>
          <p:nvPr/>
        </p:nvSpPr>
        <p:spPr>
          <a:xfrm>
            <a:off x="11201400" y="4775200"/>
            <a:ext cx="36195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 b="1">
                <a:solidFill>
                  <a:srgbClr val="16A34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얻은 이점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A8688B-F84B-2893-1B29-BAA689AD835A}"/>
              </a:ext>
            </a:extLst>
          </p:cNvPr>
          <p:cNvSpPr txBox="1"/>
          <p:nvPr/>
        </p:nvSpPr>
        <p:spPr>
          <a:xfrm>
            <a:off x="11201400" y="5207000"/>
            <a:ext cx="3619500" cy="3754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테스트 시작까지의 수동 단계를 줄이고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, 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브랜치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/</a:t>
            </a:r>
            <a:r>
              <a:rPr lang="ko-KR" altLang="en-US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플러그인 동기화 누락 가능성을 낮춥니다</a:t>
            </a:r>
            <a:r>
              <a:rPr lang="en-US" altLang="ko-KR" sz="1220">
                <a:solidFill>
                  <a:srgbClr val="4A566A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1220">
              <a:solidFill>
                <a:srgbClr val="4A566A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34A31B-D523-0E7F-8145-77D7713BE4D3}"/>
              </a:ext>
            </a:extLst>
          </p:cNvPr>
          <p:cNvSpPr txBox="1"/>
          <p:nvPr/>
        </p:nvSpPr>
        <p:spPr>
          <a:xfrm>
            <a:off x="2413000" y="7239000"/>
            <a:ext cx="11430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400">
                <a:solidFill>
                  <a:srgbClr val="121B2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동기화 → 프로젝트 파일 생성 → 빌드 → 실행까지 반복 절차를 한 흐름으로 묶었습니다</a:t>
            </a:r>
            <a:r>
              <a:rPr lang="en-US" altLang="ko-KR" sz="1400">
                <a:solidFill>
                  <a:srgbClr val="121B2C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.</a:t>
            </a:r>
            <a:endParaRPr lang="ko-KR" altLang="en-US" sz="1400">
              <a:solidFill>
                <a:srgbClr val="121B2C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3EB2B82-7E0B-5336-7D6F-4BF925DB13F0}"/>
              </a:ext>
            </a:extLst>
          </p:cNvPr>
          <p:cNvSpPr txBox="1"/>
          <p:nvPr/>
        </p:nvSpPr>
        <p:spPr>
          <a:xfrm>
            <a:off x="15240000" y="8432800"/>
            <a:ext cx="3048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700">
                <a:solidFill>
                  <a:srgbClr val="94A3B8"/>
                </a:solidFill>
                <a:latin typeface="Noto Sans KR" panose="020B0200000000000000" pitchFamily="34" charset="-128"/>
                <a:ea typeface="Noto Sans KR" panose="020B0200000000000000" pitchFamily="34" charset="-128"/>
              </a:rPr>
              <a:t>14</a:t>
            </a:r>
            <a:endParaRPr lang="ko-KR" altLang="en-US" sz="700">
              <a:solidFill>
                <a:srgbClr val="94A3B8"/>
              </a:solidFill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09771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C8DB62-4095-087A-5ECF-449BFE53008A}"/>
              </a:ext>
            </a:extLst>
          </p:cNvPr>
          <p:cNvSpPr txBox="1"/>
          <p:nvPr/>
        </p:nvSpPr>
        <p:spPr>
          <a:xfrm>
            <a:off x="736600" y="482600"/>
            <a:ext cx="5334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200" b="1">
                <a:solidFill>
                  <a:srgbClr val="EA580C"/>
                </a:solidFill>
                <a:latin typeface="맑은 고딕" panose="020B0503020000020004" pitchFamily="34" charset="-127"/>
              </a:rPr>
              <a:t>WRAP-UP</a:t>
            </a:r>
            <a:endParaRPr lang="ko-KR" altLang="en-US" sz="1200" b="1">
              <a:solidFill>
                <a:srgbClr val="EA580C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A13FA7-55EA-778C-3418-72D3D5E0A9B7}"/>
              </a:ext>
            </a:extLst>
          </p:cNvPr>
          <p:cNvSpPr txBox="1"/>
          <p:nvPr/>
        </p:nvSpPr>
        <p:spPr>
          <a:xfrm>
            <a:off x="736600" y="889000"/>
            <a:ext cx="107950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핵심 역량</a:t>
            </a:r>
            <a:r>
              <a:rPr lang="en-US" altLang="ko-KR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: </a:t>
            </a:r>
            <a:r>
              <a:rPr lang="ko-KR" altLang="en-US" sz="2700" b="1">
                <a:solidFill>
                  <a:srgbClr val="0F172A"/>
                </a:solidFill>
                <a:latin typeface="맑은 고딕" panose="020B0503020000020004" pitchFamily="34" charset="-127"/>
              </a:rPr>
              <a:t>클라이언트 시스템 경계 설계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47D56-08E9-D4AC-CF81-D10834BF02A1}"/>
              </a:ext>
            </a:extLst>
          </p:cNvPr>
          <p:cNvSpPr txBox="1"/>
          <p:nvPr/>
        </p:nvSpPr>
        <p:spPr>
          <a:xfrm>
            <a:off x="736600" y="1498600"/>
            <a:ext cx="12446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이 포트폴리오는 콘텐츠 서술보다 기능을 나누고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연결하고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400">
                <a:solidFill>
                  <a:srgbClr val="475569"/>
                </a:solidFill>
                <a:latin typeface="맑은 고딕" panose="020B0503020000020004" pitchFamily="34" charset="-127"/>
              </a:rPr>
              <a:t>검증 가능한 형태로 만든 과정을 보여줍니다</a:t>
            </a:r>
            <a:r>
              <a:rPr lang="en-US" altLang="ko-KR" sz="14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4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6261F81-4049-6CC0-51A1-91DEF05DF018}"/>
              </a:ext>
            </a:extLst>
          </p:cNvPr>
          <p:cNvSpPr/>
          <p:nvPr/>
        </p:nvSpPr>
        <p:spPr>
          <a:xfrm>
            <a:off x="736600" y="1968500"/>
            <a:ext cx="14782800" cy="1524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8749B-4D10-22E7-BBCE-5887FD59FD9D}"/>
              </a:ext>
            </a:extLst>
          </p:cNvPr>
          <p:cNvSpPr txBox="1"/>
          <p:nvPr/>
        </p:nvSpPr>
        <p:spPr>
          <a:xfrm>
            <a:off x="990600" y="2514600"/>
            <a:ext cx="457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b="1">
                <a:solidFill>
                  <a:srgbClr val="0F172A"/>
                </a:solidFill>
                <a:latin typeface="맑은 고딕" panose="020B0503020000020004" pitchFamily="34" charset="-127"/>
              </a:rPr>
              <a:t>핵심 역량 </a:t>
            </a:r>
            <a:r>
              <a:rPr lang="en-US" altLang="ko-KR" b="1">
                <a:solidFill>
                  <a:srgbClr val="0F172A"/>
                </a:solidFill>
                <a:latin typeface="맑은 고딕" panose="020B0503020000020004" pitchFamily="34" charset="-127"/>
              </a:rPr>
              <a:t>3</a:t>
            </a:r>
            <a:r>
              <a:rPr lang="ko-KR" altLang="en-US" b="1">
                <a:solidFill>
                  <a:srgbClr val="0F172A"/>
                </a:solidFill>
                <a:latin typeface="맑은 고딕" panose="020B0503020000020004" pitchFamily="34" charset="-127"/>
              </a:rPr>
              <a:t>줄 요약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3FB74A1-F179-2D65-47E8-97FEEBC986AE}"/>
              </a:ext>
            </a:extLst>
          </p:cNvPr>
          <p:cNvSpPr/>
          <p:nvPr/>
        </p:nvSpPr>
        <p:spPr>
          <a:xfrm>
            <a:off x="990600" y="3175000"/>
            <a:ext cx="4318000" cy="24765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3A6EE4-A736-43DB-176D-0E0D4C2BB80E}"/>
              </a:ext>
            </a:extLst>
          </p:cNvPr>
          <p:cNvSpPr/>
          <p:nvPr/>
        </p:nvSpPr>
        <p:spPr>
          <a:xfrm>
            <a:off x="990600" y="3175000"/>
            <a:ext cx="63500" cy="2476500"/>
          </a:xfrm>
          <a:prstGeom prst="rect">
            <a:avLst/>
          </a:prstGeom>
          <a:solidFill>
            <a:srgbClr val="2563E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546C45-9610-9EE1-8896-3CE6C03E9D9A}"/>
              </a:ext>
            </a:extLst>
          </p:cNvPr>
          <p:cNvSpPr txBox="1"/>
          <p:nvPr/>
        </p:nvSpPr>
        <p:spPr>
          <a:xfrm>
            <a:off x="1219200" y="3403600"/>
            <a:ext cx="388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2563EB"/>
                </a:solidFill>
                <a:latin typeface="맑은 고딕" panose="020B0503020000020004" pitchFamily="34" charset="-127"/>
              </a:rPr>
              <a:t>플러그인 기반 구조 설계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303A13-6EA2-3A71-CFDE-525AC3475B70}"/>
              </a:ext>
            </a:extLst>
          </p:cNvPr>
          <p:cNvSpPr txBox="1"/>
          <p:nvPr/>
        </p:nvSpPr>
        <p:spPr>
          <a:xfrm>
            <a:off x="1219200" y="3860800"/>
            <a:ext cx="3886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게임 본체와 재사용 가능한 기능을 분리해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, 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상호작용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·UI·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데이터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저장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·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진행 시스템을 독립적인 경계로 구성했습니다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1B2CCB1B-4B9C-E33F-F554-49F3C83DA531}"/>
              </a:ext>
            </a:extLst>
          </p:cNvPr>
          <p:cNvSpPr/>
          <p:nvPr/>
        </p:nvSpPr>
        <p:spPr>
          <a:xfrm>
            <a:off x="5969000" y="3175000"/>
            <a:ext cx="4318000" cy="2476500"/>
          </a:xfrm>
          <a:prstGeom prst="roundRect">
            <a:avLst/>
          </a:prstGeom>
          <a:solidFill>
            <a:srgbClr val="ECFEFF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ED32DB2-22CA-7273-D4E0-A0F1EB73BA32}"/>
              </a:ext>
            </a:extLst>
          </p:cNvPr>
          <p:cNvSpPr/>
          <p:nvPr/>
        </p:nvSpPr>
        <p:spPr>
          <a:xfrm>
            <a:off x="5969000" y="3175000"/>
            <a:ext cx="63500" cy="24765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BF668E-0560-5E15-E0DA-4219AC978A8A}"/>
              </a:ext>
            </a:extLst>
          </p:cNvPr>
          <p:cNvSpPr txBox="1"/>
          <p:nvPr/>
        </p:nvSpPr>
        <p:spPr>
          <a:xfrm>
            <a:off x="6197600" y="3403600"/>
            <a:ext cx="388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0891B2"/>
                </a:solidFill>
                <a:latin typeface="맑은 고딕" panose="020B0503020000020004" pitchFamily="34" charset="-127"/>
              </a:rPr>
              <a:t>월드와 </a:t>
            </a:r>
            <a:r>
              <a:rPr lang="en-US" altLang="ko-KR" sz="1400" b="1">
                <a:solidFill>
                  <a:srgbClr val="0891B2"/>
                </a:solidFill>
                <a:latin typeface="맑은 고딕" panose="020B0503020000020004" pitchFamily="34" charset="-127"/>
              </a:rPr>
              <a:t>UI</a:t>
            </a:r>
            <a:r>
              <a:rPr lang="ko-KR" altLang="en-US" sz="1400" b="1">
                <a:solidFill>
                  <a:srgbClr val="0891B2"/>
                </a:solidFill>
                <a:latin typeface="맑은 고딕" panose="020B0503020000020004" pitchFamily="34" charset="-127"/>
              </a:rPr>
              <a:t>를 연결하는 클라이언트 구현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8D4789-129D-D459-A8AA-4621800D5C8C}"/>
              </a:ext>
            </a:extLst>
          </p:cNvPr>
          <p:cNvSpPr txBox="1"/>
          <p:nvPr/>
        </p:nvSpPr>
        <p:spPr>
          <a:xfrm>
            <a:off x="6197600" y="3860800"/>
            <a:ext cx="3886200" cy="4001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월드 오브젝트 상호작용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, 3D 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모니터 입력 보정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, UMG 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창 시스템을 하나의 사용자 흐름으로 연결했습니다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FE3360D-A600-1BE5-7EF5-D3F8D327187A}"/>
              </a:ext>
            </a:extLst>
          </p:cNvPr>
          <p:cNvSpPr/>
          <p:nvPr/>
        </p:nvSpPr>
        <p:spPr>
          <a:xfrm>
            <a:off x="10947400" y="3175000"/>
            <a:ext cx="4318000" cy="24765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DBE0DFD-02BC-01B3-18BC-2545D5108F02}"/>
              </a:ext>
            </a:extLst>
          </p:cNvPr>
          <p:cNvSpPr/>
          <p:nvPr/>
        </p:nvSpPr>
        <p:spPr>
          <a:xfrm>
            <a:off x="10947400" y="3175000"/>
            <a:ext cx="63500" cy="2476500"/>
          </a:xfrm>
          <a:prstGeom prst="rect">
            <a:avLst/>
          </a:prstGeom>
          <a:solidFill>
            <a:srgbClr val="16A34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C65B29-6468-11BD-4A00-F35C026521C7}"/>
              </a:ext>
            </a:extLst>
          </p:cNvPr>
          <p:cNvSpPr txBox="1"/>
          <p:nvPr/>
        </p:nvSpPr>
        <p:spPr>
          <a:xfrm>
            <a:off x="11176000" y="3403600"/>
            <a:ext cx="38862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ko-KR" altLang="en-US" sz="1400" b="1">
                <a:solidFill>
                  <a:srgbClr val="16A34A"/>
                </a:solidFill>
                <a:latin typeface="맑은 고딕" panose="020B0503020000020004" pitchFamily="34" charset="-127"/>
              </a:rPr>
              <a:t>데이터 기반 제작 파이프라인 구축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C0CF183-5669-A249-F6CE-D47A43ACAADE}"/>
              </a:ext>
            </a:extLst>
          </p:cNvPr>
          <p:cNvSpPr txBox="1"/>
          <p:nvPr/>
        </p:nvSpPr>
        <p:spPr>
          <a:xfrm>
            <a:off x="11176000" y="3860800"/>
            <a:ext cx="3886200" cy="6001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StoryFlow, Item Registry, SaveGame, </a:t>
            </a:r>
            <a:r>
              <a:rPr lang="ko-KR" altLang="en-US" sz="1300">
                <a:solidFill>
                  <a:srgbClr val="475569"/>
                </a:solidFill>
                <a:latin typeface="맑은 고딕" panose="020B0503020000020004" pitchFamily="34" charset="-127"/>
              </a:rPr>
              <a:t>배치 자동화를 통해 콘텐츠 추가와 반복 테스트가 쉬운 개발 기반을 만들었습니다</a:t>
            </a:r>
            <a:r>
              <a:rPr lang="en-US" altLang="ko-KR" sz="1300">
                <a:solidFill>
                  <a:srgbClr val="475569"/>
                </a:solidFill>
                <a:latin typeface="맑은 고딕" panose="020B0503020000020004" pitchFamily="34" charset="-127"/>
              </a:rPr>
              <a:t>.</a:t>
            </a:r>
            <a:endParaRPr lang="ko-KR" altLang="en-US" sz="1300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BAD4EF-937C-AC72-176F-4F1417E36A24}"/>
              </a:ext>
            </a:extLst>
          </p:cNvPr>
          <p:cNvSpPr txBox="1"/>
          <p:nvPr/>
        </p:nvSpPr>
        <p:spPr>
          <a:xfrm>
            <a:off x="2921000" y="7493000"/>
            <a:ext cx="1041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1600" b="1">
                <a:solidFill>
                  <a:srgbClr val="0F172A"/>
                </a:solidFill>
                <a:latin typeface="맑은 고딕" panose="020B0503020000020004" pitchFamily="34" charset="-127"/>
              </a:rPr>
              <a:t>장윤제  </a:t>
            </a:r>
            <a:r>
              <a:rPr lang="en-US" altLang="ko-KR" sz="1600" b="1">
                <a:solidFill>
                  <a:srgbClr val="0F172A"/>
                </a:solidFill>
                <a:latin typeface="맑은 고딕" panose="020B0503020000020004" pitchFamily="34" charset="-127"/>
              </a:rPr>
              <a:t>|  jjw1270@gmail.com  |  UE5 C++ Client Programmer</a:t>
            </a:r>
            <a:endParaRPr lang="ko-KR" altLang="en-US" sz="1600" b="1">
              <a:solidFill>
                <a:srgbClr val="0F172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2495D5-751C-31A9-F7B6-7631845BC638}"/>
              </a:ext>
            </a:extLst>
          </p:cNvPr>
          <p:cNvSpPr txBox="1"/>
          <p:nvPr/>
        </p:nvSpPr>
        <p:spPr>
          <a:xfrm>
            <a:off x="15087600" y="8382000"/>
            <a:ext cx="533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US" altLang="ko-KR" sz="1000" b="1">
                <a:solidFill>
                  <a:srgbClr val="475569"/>
                </a:solidFill>
                <a:latin typeface="맑은 고딕" panose="020B0503020000020004" pitchFamily="34" charset="-127"/>
              </a:rPr>
              <a:t>13</a:t>
            </a:r>
            <a:endParaRPr lang="ko-KR" altLang="en-US" sz="1000" b="1">
              <a:solidFill>
                <a:srgbClr val="475569"/>
              </a:solidFill>
              <a:latin typeface="맑은 고딕" panose="020B0503020000020004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406D06D-39D0-74EE-9134-27DD6270A91A}"/>
              </a:ext>
            </a:extLst>
          </p:cNvPr>
          <p:cNvSpPr/>
          <p:nvPr/>
        </p:nvSpPr>
        <p:spPr>
          <a:xfrm>
            <a:off x="15087600" y="8305800"/>
            <a:ext cx="533400" cy="3048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1F6A01-194D-78FB-96C9-F118B7939242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16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4E63C2D-C214-EB83-B664-1FC3A874CF34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C8DF57-B913-73D0-643F-985DFEE79D8A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16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B2D0D43-D917-C077-0C31-1F2420CB9B90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35A9EB-75B0-65F1-812E-915603B7044C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15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4D3051F3-15BF-28CC-DB87-F4890C47D54B}"/>
              </a:ext>
            </a:extLst>
          </p:cNvPr>
          <p:cNvSpPr/>
          <p:nvPr/>
        </p:nvSpPr>
        <p:spPr>
          <a:xfrm>
            <a:off x="15036800" y="8255000"/>
            <a:ext cx="609600" cy="381000"/>
          </a:xfrm>
          <a:prstGeom prst="rect">
            <a:avLst/>
          </a:prstGeom>
          <a:solidFill>
            <a:srgbClr val="F7F9FC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A43143-B67E-E16C-F69C-3E1E803A7321}"/>
              </a:ext>
            </a:extLst>
          </p:cNvPr>
          <p:cNvSpPr txBox="1"/>
          <p:nvPr/>
        </p:nvSpPr>
        <p:spPr>
          <a:xfrm>
            <a:off x="15240000" y="8432800"/>
            <a:ext cx="304800" cy="130292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spAutoFit/>
          </a:bodyPr>
          <a:lstStyle/>
          <a:p>
            <a:r>
              <a:rPr lang="en-US" altLang="ko-KR" sz="680">
                <a:solidFill>
                  <a:srgbClr val="4A566A"/>
                </a:solidFill>
                <a:latin typeface="맑은 고딕" panose="020B0503020000020004" pitchFamily="34" charset="-127"/>
              </a:rPr>
              <a:t>15</a:t>
            </a:r>
            <a:endParaRPr lang="ko-KR" altLang="en-US" sz="680">
              <a:solidFill>
                <a:srgbClr val="4A566A"/>
              </a:solidFill>
              <a:latin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922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1885</Words>
  <Application>Microsoft Office PowerPoint</Application>
  <PresentationFormat>사용자 지정</PresentationFormat>
  <Paragraphs>332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Noto Sans KR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윤제 장</dc:creator>
  <cp:lastModifiedBy>윤제 장</cp:lastModifiedBy>
  <cp:revision>28</cp:revision>
  <dcterms:created xsi:type="dcterms:W3CDTF">2026-06-16T04:32:50Z</dcterms:created>
  <dcterms:modified xsi:type="dcterms:W3CDTF">2026-06-16T10:25:36Z</dcterms:modified>
</cp:coreProperties>
</file>